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Good afternoon, and thank you for joining. My name is Adam Cankaya. I am a doctoral student in the College of Engineering and Computer Science at Florida Atlantic University. You can reach me at acankaya2017@fau.edu.
Today I want to introduce my dissertation project, Spatio-Temporal Bio-NAS for Multi-Omic Disease Prediction. In short, this work asks whether building biological knowledge into neural architecture search improves how we model and forecast disease from multi-omic data over time.
I will cover the research question, the dual-track experimental design, the five disease categories, the technical pipeline, the three-year roadmap, deliverables, current status, and a few specific asks for the committee. The goal of this session is orientation and feedback, not a full defense of results.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central research question is: does biological etiology dictate optimal neural architecture? In other words, when we search for neural networks that predict disease from multi-omic data, should biology shape that search, or is unconstrained mathematical optimization enough?
My working hypothesis is that Bio-NAS—constraining artificial synapses with known pathway structure from resources like KEGG and Reactome—will outperform unconstrained neural architecture search. I will look for gains in predictive accuracy, interpretability, and computational sparsity. Any one of those advantages can matter scientifically; all three would be ideal.
The modeling setting is deliberately longitudinal and spatio-temporal. Molecular measurements arrive at irregular intervals, so time itself is part of the architecture problem. Operationally, I validate the full dual-track method on breast cancer first, then expand only if the BRCA evidence supports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project is structured as a rigid dual-track A/B test. Track A is standard neural architecture search: Optuna explores an unconstrained space of layers, widths, and regularization, optimizing purely for predictive performance. That track is the control.
Track B is Bio-NAS. Here I translate biological blueprints—primarily KEGG and Reactome pathways—into adjacency masks and apply them through MaskedLinear layers. The search is still Optuna-driven, but the candidate networks are forced to respect biological connectivity.
Both tracks share the same data splits, tensors, and compute stack, so differences can be attributed to the biological constraints rather than preprocessing artifacts. The scientific claim is comparative: does Track B beat Track A on holdout metrics that matter clinically and scientifically?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comparative matrix spans five disease categories chosen for biological and tempo diversity. Breast invasive carcinoma is the anchor. Years one and two complete a full dual-track vertical slice on BRCA using TCGA for multi-omic richness and AURORA when we need true paired molecular timepoints.
The other four are Alzheimer’s via ADNI, rheumatoid arthritis via an open multi-omic GEO series, type 2 diabetes via KORA, and epigenetic aging via the Lothian Birth Cohort. These represent neurological, autoimmune, metabolic, and aging contexts.
Importantly, dual-track work on the other four is gated. Only if BRCA holdout shows a Track B advantage in accuracy, interpretability, or sparsity do we justify expanding the comparative claims. A null BRCA result is still a thesis contribution; it simply narrows multi-disease claims.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Methodologically, the pipeline has six stages. First, we inventory longitudinal multi-omic cohorts and lock a patient-level holdout before any fitting, so there is no subject leakage and no peeking at future visits.
Second and third, we map spatial axes—such as CpG sites or genomic coordinates—and temporal axes—visit index and inter-visit delta-t—into four-dimensional tensors stored in HDF5 with shape batch, time, spatial features, and channels.
Fourth, the NAS search space includes spatial modules like one-dimensional CNNs and spatial transformers, plus temporal modules such as ConvLSTM, GRU, and temporal attention that consume delta-t embeddings. Fifth, Optuna runs Track A then Track B with causal cross-validation on distributed workers. Sixth, we evaluate on frozen holdout trajectories, run ablations and classical baselines, then attribute predictions with Captum or SHAP and surface trajectories in a Streamlit demo.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program runs on a three-year academic calendar from Fall 2026 through Summer 2029, with twenty-four roadmap tasks tracked one-to-one as GitHub issues.
Year one is shared infrastructure: inventory all five diseases, build BRCA-first feature maps, construct leakage-safe four-dimensional tensors with delta-t embeddings, and stand up the compute and Optuna orchestration hub.
Year two engineers the search space—spatial then temporal modules—runs Track A and Track B Optuna studies on BRCA, and closes with holdout evaluation, ablations, and classical baselines. That summer comparison is the scaling gate.
Year three focuses on interpretability, a trajectory dashboard, structural taxonomy across disease tempos, the dissertation, and an open-source framework release. Other-four dual-track expansion happens only after the BRCA gate.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There are five concrete deliverables I want the committee to hold me to. First, a spatio-temporal NAS framework in PyTorch, orchestrated by Optuna, that can discover architectures for longitudinal multi-omic prediction.
Second, a causal evaluation protocol: patient-level holdout locked early, causal cross-validation, and explicit handling of irregular time through delta-t embeddings. Third, comparative A/B evidence—at minimum on BRCA—reporting whether Bio-NAS helps, and by how much, against unconstrained NAS and classical longitudinal baselines.
Fourth, interpretability artifacts: attribution maps that highlight which sites and timepoints drive forecasts, plus a Streamlit trajectory interface for demonstration. Fifth, an open-source release and the dissertation itself. I also want to be explicit that a negative or null Track B result on BRCA is still publishable science; it would tighten, not erase, the thesis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On status: the project is past pure ideation and into an executable planning phase. The master plan, twenty-four roadmap issues, live dashboard, and wiki are in place. I have drafted a multi-disease cohort inventory with recommended primaries for BRCA, Alzheimer’s, RA, T2D, and epigenetic aging. Early code scaffolds exist for BRCA data loading, a static multi-task baseline, and a disease registry.
What comes next is operational. I need to lock cohorts and initiate the required data-access agreements, finalize how we match longitudinal samples for BRCA—especially given TCGA’s sparse molecular repeats versus AURORA’s paired primary–metastasis design—then build feature maps, genomic spacing rules, and the leakage-safe ETL path with delta-t embeddings. That is the Year-one vertical-slice foundation both tracks will consume.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I will close with four asks. First, I would value your judgment on whether the dual-track design and BRCA scaling gate are appropriately rigorous—strict enough to avoid overclaiming, but flexible enough for a complete dissertation if Track B is null.
Second, BRCA has a longitudinal tension: TCGA is excellent for multi-omic breadth but weak on repeated molecular sampling; AURORA is stronger on primary–metastasis pairs but smaller and more controlled-access. I would appreciate guidance on how to weight that tradeoff.
Third, while BRCA is underway, which Other-four access path should I prioritize—ADNI, KORA, or Lothian—so Year-three scaling is realistic. Fourth, if Bio-NAS improves interpretability or sparsity but not accuracy, should that still justify multi-disease expansion, or should accuracy remain the hard gate?
Thank you again. I welcome your questions and advice, and I’m happy to follow up at acankaya2017@fau.edu.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Rectangle 1"/>
          <p:cNvSpPr/>
          <p:nvPr/>
        </p:nvSpPr>
        <p:spPr>
          <a:xfrm>
            <a:off x="0" y="5440680"/>
            <a:ext cx="12191695" cy="1417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40680"/>
            <a:ext cx="12191695" cy="54864"/>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
            <a:ext cx="10515600" cy="365760"/>
          </a:xfrm>
          <a:prstGeom prst="rect">
            <a:avLst/>
          </a:prstGeom>
          <a:noFill/>
        </p:spPr>
        <p:txBody>
          <a:bodyPr wrap="square"/>
          <a:lstStyle/>
          <a:p>
            <a:pPr algn="l"/>
            <a:r>
              <a:rPr sz="1400" b="1">
                <a:solidFill>
                  <a:srgbClr val="CCCCCC"/>
                </a:solidFill>
                <a:latin typeface="Calibri"/>
              </a:rPr>
              <a:t>FLORIDA ATLANTIC UNIVERSITY</a:t>
            </a:r>
          </a:p>
        </p:txBody>
      </p:sp>
      <p:sp>
        <p:nvSpPr>
          <p:cNvPr id="5" name="TextBox 4"/>
          <p:cNvSpPr txBox="1"/>
          <p:nvPr/>
        </p:nvSpPr>
        <p:spPr>
          <a:xfrm>
            <a:off x="731520" y="1005840"/>
            <a:ext cx="10515600" cy="320040"/>
          </a:xfrm>
          <a:prstGeom prst="rect">
            <a:avLst/>
          </a:prstGeom>
          <a:noFill/>
        </p:spPr>
        <p:txBody>
          <a:bodyPr wrap="square"/>
          <a:lstStyle/>
          <a:p>
            <a:pPr algn="l"/>
            <a:r>
              <a:rPr sz="1600" b="0">
                <a:solidFill>
                  <a:srgbClr val="FFFFFF"/>
                </a:solidFill>
                <a:latin typeface="Calibri"/>
              </a:rPr>
              <a:t>College of Engineering and Computer Science</a:t>
            </a:r>
          </a:p>
        </p:txBody>
      </p:sp>
      <p:sp>
        <p:nvSpPr>
          <p:cNvPr id="6" name="TextBox 5"/>
          <p:cNvSpPr txBox="1"/>
          <p:nvPr/>
        </p:nvSpPr>
        <p:spPr>
          <a:xfrm>
            <a:off x="731520" y="1828800"/>
            <a:ext cx="10698480" cy="1463040"/>
          </a:xfrm>
          <a:prstGeom prst="rect">
            <a:avLst/>
          </a:prstGeom>
          <a:noFill/>
        </p:spPr>
        <p:txBody>
          <a:bodyPr wrap="square"/>
          <a:lstStyle/>
          <a:p>
            <a:pPr algn="l"/>
            <a:r>
              <a:rPr sz="3600" b="1">
                <a:solidFill>
                  <a:srgbClr val="FFFFFF"/>
                </a:solidFill>
                <a:latin typeface="Calibri"/>
              </a:rPr>
              <a:t>Spatio-Temporal Bio-NAS for
Multi-Omic Disease Prediction</a:t>
            </a:r>
          </a:p>
        </p:txBody>
      </p:sp>
      <p:sp>
        <p:nvSpPr>
          <p:cNvPr id="7" name="TextBox 6"/>
          <p:cNvSpPr txBox="1"/>
          <p:nvPr/>
        </p:nvSpPr>
        <p:spPr>
          <a:xfrm>
            <a:off x="731520" y="3566160"/>
            <a:ext cx="10515600" cy="640080"/>
          </a:xfrm>
          <a:prstGeom prst="rect">
            <a:avLst/>
          </a:prstGeom>
          <a:noFill/>
        </p:spPr>
        <p:txBody>
          <a:bodyPr wrap="square"/>
          <a:lstStyle/>
          <a:p>
            <a:pPr algn="l"/>
            <a:r>
              <a:rPr sz="1800" b="0">
                <a:solidFill>
                  <a:srgbClr val="CCCCCC"/>
                </a:solidFill>
                <a:latin typeface="Calibri"/>
              </a:rPr>
              <a:t>Dual-Track Neural Architecture Search Constrained by Biological Pathways</a:t>
            </a:r>
          </a:p>
        </p:txBody>
      </p:sp>
      <p:sp>
        <p:nvSpPr>
          <p:cNvPr id="8" name="TextBox 7"/>
          <p:cNvSpPr txBox="1"/>
          <p:nvPr/>
        </p:nvSpPr>
        <p:spPr>
          <a:xfrm>
            <a:off x="731520" y="5715000"/>
            <a:ext cx="10515600" cy="822960"/>
          </a:xfrm>
          <a:prstGeom prst="rect">
            <a:avLst/>
          </a:prstGeom>
          <a:noFill/>
        </p:spPr>
        <p:txBody>
          <a:bodyPr wrap="square"/>
          <a:lstStyle/>
          <a:p>
            <a:pPr algn="l"/>
            <a:r>
              <a:rPr sz="1600" b="1">
                <a:solidFill>
                  <a:srgbClr val="FFFFFF"/>
                </a:solidFill>
                <a:latin typeface="Calibri"/>
              </a:rPr>
              <a:t>Adam Cankaya
acankaya2017@fau.edu  ·  Thesis Committee Introduction  ·  Fall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7315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41832"/>
            <a:ext cx="109728" cy="59161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73952"/>
            <a:ext cx="12191695"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64592"/>
            <a:ext cx="11430000" cy="502920"/>
          </a:xfrm>
          <a:prstGeom prst="rect">
            <a:avLst/>
          </a:prstGeom>
          <a:noFill/>
        </p:spPr>
        <p:txBody>
          <a:bodyPr wrap="square"/>
          <a:lstStyle/>
          <a:p>
            <a:pPr algn="l"/>
            <a:r>
              <a:rPr sz="2600" b="1">
                <a:solidFill>
                  <a:srgbClr val="FFFFFF"/>
                </a:solidFill>
                <a:latin typeface="Calibri"/>
              </a:rPr>
              <a:t>Research Question &amp; Hypothesis</a:t>
            </a:r>
          </a:p>
        </p:txBody>
      </p:sp>
      <p:sp>
        <p:nvSpPr>
          <p:cNvPr id="7" name="TextBox 6"/>
          <p:cNvSpPr txBox="1"/>
          <p:nvPr/>
        </p:nvSpPr>
        <p:spPr>
          <a:xfrm>
            <a:off x="320040" y="6510528"/>
            <a:ext cx="7772400" cy="292608"/>
          </a:xfrm>
          <a:prstGeom prst="rect">
            <a:avLst/>
          </a:prstGeom>
          <a:noFill/>
        </p:spPr>
        <p:txBody>
          <a:bodyPr wrap="square"/>
          <a:lstStyle/>
          <a:p>
            <a:pPr algn="l"/>
            <a:r>
              <a:rPr sz="1000" b="0">
                <a:solidFill>
                  <a:srgbClr val="FFFFFF"/>
                </a:solidFill>
                <a:latin typeface="Calibri"/>
              </a:rPr>
              <a:t>Adam Cankaya  ·  Florida Atlantic University  ·  College of Engineering and Computer Science</a:t>
            </a:r>
          </a:p>
        </p:txBody>
      </p:sp>
      <p:sp>
        <p:nvSpPr>
          <p:cNvPr id="8" name="TextBox 7"/>
          <p:cNvSpPr txBox="1"/>
          <p:nvPr/>
        </p:nvSpPr>
        <p:spPr>
          <a:xfrm>
            <a:off x="8412480" y="6510528"/>
            <a:ext cx="3474720" cy="292608"/>
          </a:xfrm>
          <a:prstGeom prst="rect">
            <a:avLst/>
          </a:prstGeom>
          <a:noFill/>
        </p:spPr>
        <p:txBody>
          <a:bodyPr wrap="square"/>
          <a:lstStyle/>
          <a:p>
            <a:pPr algn="r"/>
            <a:r>
              <a:rPr sz="1000" b="0">
                <a:solidFill>
                  <a:srgbClr val="CCCCCC"/>
                </a:solidFill>
                <a:latin typeface="Calibri"/>
              </a:rPr>
              <a:t>acankaya2017@fau.edu</a:t>
            </a:r>
          </a:p>
        </p:txBody>
      </p:sp>
      <p:sp>
        <p:nvSpPr>
          <p:cNvPr id="9" name="Rounded Rectangle 8"/>
          <p:cNvSpPr/>
          <p:nvPr/>
        </p:nvSpPr>
        <p:spPr>
          <a:xfrm>
            <a:off x="457200" y="1234440"/>
            <a:ext cx="11247120" cy="1234440"/>
          </a:xfrm>
          <a:prstGeom prst="roundRect">
            <a:avLst>
              <a:gd name="adj" fmla="val 8000"/>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417320"/>
            <a:ext cx="10789920" cy="914400"/>
          </a:xfrm>
          <a:prstGeom prst="rect">
            <a:avLst/>
          </a:prstGeom>
          <a:noFill/>
        </p:spPr>
        <p:txBody>
          <a:bodyPr wrap="square"/>
          <a:lstStyle/>
          <a:p>
            <a:pPr algn="ctr"/>
            <a:r>
              <a:rPr sz="2600" b="1">
                <a:solidFill>
                  <a:srgbClr val="003366"/>
                </a:solidFill>
                <a:latin typeface="Calibri"/>
              </a:rPr>
              <a:t>Does biological etiology dictate optimal neural architecture?</a:t>
            </a:r>
          </a:p>
        </p:txBody>
      </p:sp>
      <p:sp>
        <p:nvSpPr>
          <p:cNvPr id="11" name="TextBox 10"/>
          <p:cNvSpPr txBox="1"/>
          <p:nvPr/>
        </p:nvSpPr>
        <p:spPr>
          <a:xfrm>
            <a:off x="640080" y="2743200"/>
            <a:ext cx="10789920" cy="2926080"/>
          </a:xfrm>
          <a:prstGeom prst="rect">
            <a:avLst/>
          </a:prstGeom>
          <a:noFill/>
        </p:spPr>
        <p:txBody>
          <a:bodyPr wrap="square">
            <a:spAutoFit/>
          </a:bodyPr>
          <a:lstStyle/>
          <a:p>
            <a:pPr algn="l">
              <a:spcBef>
                <a:spcPts val="200"/>
              </a:spcBef>
              <a:spcAft>
                <a:spcPts val="1000"/>
              </a:spcAft>
            </a:pPr>
            <a:r>
              <a:rPr sz="1800" b="0">
                <a:solidFill>
                  <a:srgbClr val="1A1A1A"/>
                </a:solidFill>
                <a:latin typeface="Calibri"/>
              </a:rPr>
              <a:t>•  Hypothesis: Bio-NAS (KEGG / Reactome pathway constraints) outperforms unconstrained NAS on accuracy, interpretability, and/or sparsity.</a:t>
            </a:r>
          </a:p>
          <a:p>
            <a:pPr algn="l">
              <a:spcBef>
                <a:spcPts val="200"/>
              </a:spcBef>
              <a:spcAft>
                <a:spcPts val="1000"/>
              </a:spcAft>
            </a:pPr>
            <a:r>
              <a:rPr sz="1800" b="0">
                <a:solidFill>
                  <a:srgbClr val="1A1A1A"/>
                </a:solidFill>
                <a:latin typeface="Calibri"/>
              </a:rPr>
              <a:t>•  Setting: spatio-temporal deep learning over irregular longitudinal multi-omic visits.</a:t>
            </a:r>
          </a:p>
          <a:p>
            <a:pPr algn="l">
              <a:spcBef>
                <a:spcPts val="200"/>
              </a:spcBef>
              <a:spcAft>
                <a:spcPts val="1000"/>
              </a:spcAft>
            </a:pPr>
            <a:r>
              <a:rPr sz="1800" b="0">
                <a:solidFill>
                  <a:srgbClr val="1A1A1A"/>
                </a:solidFill>
                <a:latin typeface="Calibri"/>
              </a:rPr>
              <a:t>•  Strategy: prove the method on BRCA first, then scale to four additional disease categories if justified.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7315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41832"/>
            <a:ext cx="109728" cy="59161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73952"/>
            <a:ext cx="12191695"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64592"/>
            <a:ext cx="11430000" cy="502920"/>
          </a:xfrm>
          <a:prstGeom prst="rect">
            <a:avLst/>
          </a:prstGeom>
          <a:noFill/>
        </p:spPr>
        <p:txBody>
          <a:bodyPr wrap="square"/>
          <a:lstStyle/>
          <a:p>
            <a:pPr algn="l"/>
            <a:r>
              <a:rPr sz="2600" b="1">
                <a:solidFill>
                  <a:srgbClr val="FFFFFF"/>
                </a:solidFill>
                <a:latin typeface="Calibri"/>
              </a:rPr>
              <a:t>Dual-Track Experimental Design</a:t>
            </a:r>
          </a:p>
        </p:txBody>
      </p:sp>
      <p:sp>
        <p:nvSpPr>
          <p:cNvPr id="7" name="TextBox 6"/>
          <p:cNvSpPr txBox="1"/>
          <p:nvPr/>
        </p:nvSpPr>
        <p:spPr>
          <a:xfrm>
            <a:off x="320040" y="530352"/>
            <a:ext cx="11430000" cy="292608"/>
          </a:xfrm>
          <a:prstGeom prst="rect">
            <a:avLst/>
          </a:prstGeom>
          <a:noFill/>
        </p:spPr>
        <p:txBody>
          <a:bodyPr wrap="square"/>
          <a:lstStyle/>
          <a:p>
            <a:pPr algn="l"/>
            <a:r>
              <a:rPr sz="1200" b="0">
                <a:solidFill>
                  <a:srgbClr val="CCCCCC"/>
                </a:solidFill>
                <a:latin typeface="Calibri"/>
              </a:rPr>
              <a:t>Track A = control  ·  Track B = innovation  ·  Shared infrastructure for both</a:t>
            </a:r>
          </a:p>
        </p:txBody>
      </p:sp>
      <p:sp>
        <p:nvSpPr>
          <p:cNvPr id="8" name="TextBox 7"/>
          <p:cNvSpPr txBox="1"/>
          <p:nvPr/>
        </p:nvSpPr>
        <p:spPr>
          <a:xfrm>
            <a:off x="320040" y="6510528"/>
            <a:ext cx="7772400" cy="292608"/>
          </a:xfrm>
          <a:prstGeom prst="rect">
            <a:avLst/>
          </a:prstGeom>
          <a:noFill/>
        </p:spPr>
        <p:txBody>
          <a:bodyPr wrap="square"/>
          <a:lstStyle/>
          <a:p>
            <a:pPr algn="l"/>
            <a:r>
              <a:rPr sz="1000" b="0">
                <a:solidFill>
                  <a:srgbClr val="FFFFFF"/>
                </a:solidFill>
                <a:latin typeface="Calibri"/>
              </a:rPr>
              <a:t>Adam Cankaya  ·  Florida Atlantic University  ·  College of Engineering and Computer Science</a:t>
            </a:r>
          </a:p>
        </p:txBody>
      </p:sp>
      <p:sp>
        <p:nvSpPr>
          <p:cNvPr id="9" name="TextBox 8"/>
          <p:cNvSpPr txBox="1"/>
          <p:nvPr/>
        </p:nvSpPr>
        <p:spPr>
          <a:xfrm>
            <a:off x="8412480" y="6510528"/>
            <a:ext cx="3474720" cy="292608"/>
          </a:xfrm>
          <a:prstGeom prst="rect">
            <a:avLst/>
          </a:prstGeom>
          <a:noFill/>
        </p:spPr>
        <p:txBody>
          <a:bodyPr wrap="square"/>
          <a:lstStyle/>
          <a:p>
            <a:pPr algn="r"/>
            <a:r>
              <a:rPr sz="1000" b="0">
                <a:solidFill>
                  <a:srgbClr val="CCCCCC"/>
                </a:solidFill>
                <a:latin typeface="Calibri"/>
              </a:rPr>
              <a:t>acankaya2017@fau.edu</a:t>
            </a:r>
          </a:p>
        </p:txBody>
      </p:sp>
      <p:sp>
        <p:nvSpPr>
          <p:cNvPr id="10" name="Rounded Rectangle 9"/>
          <p:cNvSpPr/>
          <p:nvPr/>
        </p:nvSpPr>
        <p:spPr>
          <a:xfrm>
            <a:off x="457200" y="1280160"/>
            <a:ext cx="5394960" cy="4206240"/>
          </a:xfrm>
          <a:prstGeom prst="roundRect">
            <a:avLst>
              <a:gd name="adj" fmla="val 8000"/>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280160"/>
            <a:ext cx="5394960" cy="6400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371600"/>
            <a:ext cx="5029200" cy="457200"/>
          </a:xfrm>
          <a:prstGeom prst="rect">
            <a:avLst/>
          </a:prstGeom>
          <a:noFill/>
        </p:spPr>
        <p:txBody>
          <a:bodyPr wrap="square"/>
          <a:lstStyle/>
          <a:p>
            <a:pPr algn="l"/>
            <a:r>
              <a:rPr sz="2000" b="1">
                <a:solidFill>
                  <a:srgbClr val="FFFFFF"/>
                </a:solidFill>
                <a:latin typeface="Calibri"/>
              </a:rPr>
              <a:t>Track A — Standard NAS</a:t>
            </a:r>
          </a:p>
        </p:txBody>
      </p:sp>
      <p:sp>
        <p:nvSpPr>
          <p:cNvPr id="13" name="TextBox 12"/>
          <p:cNvSpPr txBox="1"/>
          <p:nvPr/>
        </p:nvSpPr>
        <p:spPr>
          <a:xfrm>
            <a:off x="685800" y="2103120"/>
            <a:ext cx="4937760" cy="3108960"/>
          </a:xfrm>
          <a:prstGeom prst="rect">
            <a:avLst/>
          </a:prstGeom>
          <a:noFill/>
        </p:spPr>
        <p:txBody>
          <a:bodyPr wrap="square">
            <a:spAutoFit/>
          </a:bodyPr>
          <a:lstStyle/>
          <a:p>
            <a:pPr algn="l">
              <a:spcBef>
                <a:spcPts val="200"/>
              </a:spcBef>
              <a:spcAft>
                <a:spcPts val="1000"/>
              </a:spcAft>
            </a:pPr>
            <a:r>
              <a:rPr sz="1600" b="0">
                <a:solidFill>
                  <a:srgbClr val="1A1A1A"/>
                </a:solidFill>
                <a:latin typeface="Calibri"/>
              </a:rPr>
              <a:t>•  Role: control / baseline</a:t>
            </a:r>
          </a:p>
          <a:p>
            <a:pPr algn="l">
              <a:spcBef>
                <a:spcPts val="200"/>
              </a:spcBef>
              <a:spcAft>
                <a:spcPts val="1000"/>
              </a:spcAft>
            </a:pPr>
            <a:r>
              <a:rPr sz="1600" b="0">
                <a:solidFill>
                  <a:srgbClr val="1A1A1A"/>
                </a:solidFill>
                <a:latin typeface="Calibri"/>
              </a:rPr>
              <a:t>•  Unconstrained search over layers, width, dropout</a:t>
            </a:r>
          </a:p>
          <a:p>
            <a:pPr algn="l">
              <a:spcBef>
                <a:spcPts val="200"/>
              </a:spcBef>
              <a:spcAft>
                <a:spcPts val="1000"/>
              </a:spcAft>
            </a:pPr>
            <a:r>
              <a:rPr sz="1600" b="0">
                <a:solidFill>
                  <a:srgbClr val="1A1A1A"/>
                </a:solidFill>
                <a:latin typeface="Calibri"/>
              </a:rPr>
              <a:t>•  Optimizes for mathematical performance</a:t>
            </a:r>
          </a:p>
          <a:p>
            <a:pPr algn="l">
              <a:spcBef>
                <a:spcPts val="200"/>
              </a:spcBef>
              <a:spcAft>
                <a:spcPts val="1000"/>
              </a:spcAft>
            </a:pPr>
            <a:r>
              <a:rPr sz="1600" b="0">
                <a:solidFill>
                  <a:srgbClr val="1A1A1A"/>
                </a:solidFill>
                <a:latin typeface="Calibri"/>
              </a:rPr>
              <a:t>•  Establishes what Optuna finds without biology</a:t>
            </a:r>
          </a:p>
        </p:txBody>
      </p:sp>
      <p:sp>
        <p:nvSpPr>
          <p:cNvPr id="14" name="Rounded Rectangle 13"/>
          <p:cNvSpPr/>
          <p:nvPr/>
        </p:nvSpPr>
        <p:spPr>
          <a:xfrm>
            <a:off x="6309360" y="1280160"/>
            <a:ext cx="5394960" cy="4206240"/>
          </a:xfrm>
          <a:prstGeom prst="roundRect">
            <a:avLst>
              <a:gd name="adj" fmla="val 8000"/>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1280160"/>
            <a:ext cx="5394960" cy="64008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371600"/>
            <a:ext cx="5029200" cy="457200"/>
          </a:xfrm>
          <a:prstGeom prst="rect">
            <a:avLst/>
          </a:prstGeom>
          <a:noFill/>
        </p:spPr>
        <p:txBody>
          <a:bodyPr wrap="square"/>
          <a:lstStyle/>
          <a:p>
            <a:pPr algn="l"/>
            <a:r>
              <a:rPr sz="2000" b="1">
                <a:solidFill>
                  <a:srgbClr val="FFFFFF"/>
                </a:solidFill>
                <a:latin typeface="Calibri"/>
              </a:rPr>
              <a:t>Track B — Bio-NAS</a:t>
            </a:r>
          </a:p>
        </p:txBody>
      </p:sp>
      <p:sp>
        <p:nvSpPr>
          <p:cNvPr id="17" name="TextBox 16"/>
          <p:cNvSpPr txBox="1"/>
          <p:nvPr/>
        </p:nvSpPr>
        <p:spPr>
          <a:xfrm>
            <a:off x="6537960" y="2103120"/>
            <a:ext cx="4937760" cy="3108960"/>
          </a:xfrm>
          <a:prstGeom prst="rect">
            <a:avLst/>
          </a:prstGeom>
          <a:noFill/>
        </p:spPr>
        <p:txBody>
          <a:bodyPr wrap="square">
            <a:spAutoFit/>
          </a:bodyPr>
          <a:lstStyle/>
          <a:p>
            <a:pPr algn="l">
              <a:spcBef>
                <a:spcPts val="200"/>
              </a:spcBef>
              <a:spcAft>
                <a:spcPts val="1000"/>
              </a:spcAft>
            </a:pPr>
            <a:r>
              <a:rPr sz="1600" b="0">
                <a:solidFill>
                  <a:srgbClr val="1A1A1A"/>
                </a:solidFill>
                <a:latin typeface="Calibri"/>
              </a:rPr>
              <a:t>•  Role: biologically informed innovation</a:t>
            </a:r>
          </a:p>
          <a:p>
            <a:pPr algn="l">
              <a:spcBef>
                <a:spcPts val="200"/>
              </a:spcBef>
              <a:spcAft>
                <a:spcPts val="1000"/>
              </a:spcAft>
            </a:pPr>
            <a:r>
              <a:rPr sz="1600" b="0">
                <a:solidFill>
                  <a:srgbClr val="1A1A1A"/>
                </a:solidFill>
                <a:latin typeface="Calibri"/>
              </a:rPr>
              <a:t>•  Pathway adjacency → MaskedLinear layers</a:t>
            </a:r>
          </a:p>
          <a:p>
            <a:pPr algn="l">
              <a:spcBef>
                <a:spcPts val="200"/>
              </a:spcBef>
              <a:spcAft>
                <a:spcPts val="1000"/>
              </a:spcAft>
            </a:pPr>
            <a:r>
              <a:rPr sz="1600" b="0">
                <a:solidFill>
                  <a:srgbClr val="1A1A1A"/>
                </a:solidFill>
                <a:latin typeface="Calibri"/>
              </a:rPr>
              <a:t>•  Forces search toward true biological routes</a:t>
            </a:r>
          </a:p>
          <a:p>
            <a:pPr algn="l">
              <a:spcBef>
                <a:spcPts val="200"/>
              </a:spcBef>
              <a:spcAft>
                <a:spcPts val="1000"/>
              </a:spcAft>
            </a:pPr>
            <a:r>
              <a:rPr sz="1600" b="0">
                <a:solidFill>
                  <a:srgbClr val="1A1A1A"/>
                </a:solidFill>
                <a:latin typeface="Calibri"/>
              </a:rPr>
              <a:t>•  Tests gains in accuracy, interpretability, sparsity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7315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41832"/>
            <a:ext cx="109728" cy="59161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73952"/>
            <a:ext cx="12191695"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64592"/>
            <a:ext cx="11430000" cy="502920"/>
          </a:xfrm>
          <a:prstGeom prst="rect">
            <a:avLst/>
          </a:prstGeom>
          <a:noFill/>
        </p:spPr>
        <p:txBody>
          <a:bodyPr wrap="square"/>
          <a:lstStyle/>
          <a:p>
            <a:pPr algn="l"/>
            <a:r>
              <a:rPr sz="2600" b="1">
                <a:solidFill>
                  <a:srgbClr val="FFFFFF"/>
                </a:solidFill>
                <a:latin typeface="Calibri"/>
              </a:rPr>
              <a:t>Disease Comparative Matrix</a:t>
            </a:r>
          </a:p>
        </p:txBody>
      </p:sp>
      <p:sp>
        <p:nvSpPr>
          <p:cNvPr id="7" name="TextBox 6"/>
          <p:cNvSpPr txBox="1"/>
          <p:nvPr/>
        </p:nvSpPr>
        <p:spPr>
          <a:xfrm>
            <a:off x="320040" y="530352"/>
            <a:ext cx="11430000" cy="292608"/>
          </a:xfrm>
          <a:prstGeom prst="rect">
            <a:avLst/>
          </a:prstGeom>
          <a:noFill/>
        </p:spPr>
        <p:txBody>
          <a:bodyPr wrap="square"/>
          <a:lstStyle/>
          <a:p>
            <a:pPr algn="l"/>
            <a:r>
              <a:rPr sz="1200" b="0">
                <a:solidFill>
                  <a:srgbClr val="CCCCCC"/>
                </a:solidFill>
                <a:latin typeface="Calibri"/>
              </a:rPr>
              <a:t>Five categories  ·  BRCA is the Year 1–2 anchor  ·  Other 4 gated by BRCA evidence</a:t>
            </a:r>
          </a:p>
        </p:txBody>
      </p:sp>
      <p:sp>
        <p:nvSpPr>
          <p:cNvPr id="8" name="TextBox 7"/>
          <p:cNvSpPr txBox="1"/>
          <p:nvPr/>
        </p:nvSpPr>
        <p:spPr>
          <a:xfrm>
            <a:off x="320040" y="6510528"/>
            <a:ext cx="7772400" cy="292608"/>
          </a:xfrm>
          <a:prstGeom prst="rect">
            <a:avLst/>
          </a:prstGeom>
          <a:noFill/>
        </p:spPr>
        <p:txBody>
          <a:bodyPr wrap="square"/>
          <a:lstStyle/>
          <a:p>
            <a:pPr algn="l"/>
            <a:r>
              <a:rPr sz="1000" b="0">
                <a:solidFill>
                  <a:srgbClr val="FFFFFF"/>
                </a:solidFill>
                <a:latin typeface="Calibri"/>
              </a:rPr>
              <a:t>Adam Cankaya  ·  Florida Atlantic University  ·  College of Engineering and Computer Science</a:t>
            </a:r>
          </a:p>
        </p:txBody>
      </p:sp>
      <p:sp>
        <p:nvSpPr>
          <p:cNvPr id="9" name="TextBox 8"/>
          <p:cNvSpPr txBox="1"/>
          <p:nvPr/>
        </p:nvSpPr>
        <p:spPr>
          <a:xfrm>
            <a:off x="8412480" y="6510528"/>
            <a:ext cx="3474720" cy="292608"/>
          </a:xfrm>
          <a:prstGeom prst="rect">
            <a:avLst/>
          </a:prstGeom>
          <a:noFill/>
        </p:spPr>
        <p:txBody>
          <a:bodyPr wrap="square"/>
          <a:lstStyle/>
          <a:p>
            <a:pPr algn="r"/>
            <a:r>
              <a:rPr sz="1000" b="0">
                <a:solidFill>
                  <a:srgbClr val="CCCCCC"/>
                </a:solidFill>
                <a:latin typeface="Calibri"/>
              </a:rPr>
              <a:t>acankaya2017@fau.edu</a:t>
            </a:r>
          </a:p>
        </p:txBody>
      </p:sp>
      <p:sp>
        <p:nvSpPr>
          <p:cNvPr id="10" name="Rectangle 9"/>
          <p:cNvSpPr/>
          <p:nvPr/>
        </p:nvSpPr>
        <p:spPr>
          <a:xfrm>
            <a:off x="457200" y="1234440"/>
            <a:ext cx="11247120" cy="4572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307592"/>
            <a:ext cx="2606040" cy="320040"/>
          </a:xfrm>
          <a:prstGeom prst="rect">
            <a:avLst/>
          </a:prstGeom>
          <a:noFill/>
        </p:spPr>
        <p:txBody>
          <a:bodyPr wrap="square"/>
          <a:lstStyle/>
          <a:p>
            <a:pPr algn="l"/>
            <a:r>
              <a:rPr sz="1400" b="1">
                <a:solidFill>
                  <a:srgbClr val="FFFFFF"/>
                </a:solidFill>
                <a:latin typeface="Calibri"/>
              </a:rPr>
              <a:t>Category</a:t>
            </a:r>
          </a:p>
        </p:txBody>
      </p:sp>
      <p:sp>
        <p:nvSpPr>
          <p:cNvPr id="12" name="TextBox 11"/>
          <p:cNvSpPr txBox="1"/>
          <p:nvPr/>
        </p:nvSpPr>
        <p:spPr>
          <a:xfrm>
            <a:off x="3383280" y="1307592"/>
            <a:ext cx="4160520" cy="320040"/>
          </a:xfrm>
          <a:prstGeom prst="rect">
            <a:avLst/>
          </a:prstGeom>
          <a:noFill/>
        </p:spPr>
        <p:txBody>
          <a:bodyPr wrap="square"/>
          <a:lstStyle/>
          <a:p>
            <a:pPr algn="l"/>
            <a:r>
              <a:rPr sz="1400" b="1">
                <a:solidFill>
                  <a:srgbClr val="FFFFFF"/>
                </a:solidFill>
                <a:latin typeface="Calibri"/>
              </a:rPr>
              <a:t>Disease</a:t>
            </a:r>
          </a:p>
        </p:txBody>
      </p:sp>
      <p:sp>
        <p:nvSpPr>
          <p:cNvPr id="13" name="TextBox 12"/>
          <p:cNvSpPr txBox="1"/>
          <p:nvPr/>
        </p:nvSpPr>
        <p:spPr>
          <a:xfrm>
            <a:off x="7772400" y="1307592"/>
            <a:ext cx="3886200" cy="320040"/>
          </a:xfrm>
          <a:prstGeom prst="rect">
            <a:avLst/>
          </a:prstGeom>
          <a:noFill/>
        </p:spPr>
        <p:txBody>
          <a:bodyPr wrap="square"/>
          <a:lstStyle/>
          <a:p>
            <a:pPr algn="l"/>
            <a:r>
              <a:rPr sz="1400" b="1">
                <a:solidFill>
                  <a:srgbClr val="FFFFFF"/>
                </a:solidFill>
                <a:latin typeface="Calibri"/>
              </a:rPr>
              <a:t>Primary cohort source</a:t>
            </a:r>
          </a:p>
        </p:txBody>
      </p:sp>
      <p:sp>
        <p:nvSpPr>
          <p:cNvPr id="14" name="Rectangle 13"/>
          <p:cNvSpPr/>
          <p:nvPr/>
        </p:nvSpPr>
        <p:spPr>
          <a:xfrm>
            <a:off x="457200" y="1691640"/>
            <a:ext cx="11247120" cy="65836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1856232"/>
            <a:ext cx="2606040" cy="365760"/>
          </a:xfrm>
          <a:prstGeom prst="rect">
            <a:avLst/>
          </a:prstGeom>
          <a:noFill/>
        </p:spPr>
        <p:txBody>
          <a:bodyPr wrap="square"/>
          <a:lstStyle/>
          <a:p>
            <a:pPr algn="l"/>
            <a:r>
              <a:rPr sz="1400" b="1">
                <a:solidFill>
                  <a:srgbClr val="CC0000"/>
                </a:solidFill>
                <a:latin typeface="Calibri"/>
              </a:rPr>
              <a:t>Oncological (Anchor)</a:t>
            </a:r>
          </a:p>
        </p:txBody>
      </p:sp>
      <p:sp>
        <p:nvSpPr>
          <p:cNvPr id="16" name="TextBox 15"/>
          <p:cNvSpPr txBox="1"/>
          <p:nvPr/>
        </p:nvSpPr>
        <p:spPr>
          <a:xfrm>
            <a:off x="3383280" y="1856232"/>
            <a:ext cx="4160520" cy="365760"/>
          </a:xfrm>
          <a:prstGeom prst="rect">
            <a:avLst/>
          </a:prstGeom>
          <a:noFill/>
        </p:spPr>
        <p:txBody>
          <a:bodyPr wrap="square"/>
          <a:lstStyle/>
          <a:p>
            <a:pPr algn="l"/>
            <a:r>
              <a:rPr sz="1400" b="1">
                <a:solidFill>
                  <a:srgbClr val="1A1A1A"/>
                </a:solidFill>
                <a:latin typeface="Calibri"/>
              </a:rPr>
              <a:t>Breast Invasive Carcinoma (BRCA)</a:t>
            </a:r>
          </a:p>
        </p:txBody>
      </p:sp>
      <p:sp>
        <p:nvSpPr>
          <p:cNvPr id="17" name="TextBox 16"/>
          <p:cNvSpPr txBox="1"/>
          <p:nvPr/>
        </p:nvSpPr>
        <p:spPr>
          <a:xfrm>
            <a:off x="7772400" y="1856232"/>
            <a:ext cx="3886200" cy="365760"/>
          </a:xfrm>
          <a:prstGeom prst="rect">
            <a:avLst/>
          </a:prstGeom>
          <a:noFill/>
        </p:spPr>
        <p:txBody>
          <a:bodyPr wrap="square"/>
          <a:lstStyle/>
          <a:p>
            <a:pPr algn="l"/>
            <a:r>
              <a:rPr sz="1400" b="0">
                <a:solidFill>
                  <a:srgbClr val="4A5566"/>
                </a:solidFill>
                <a:latin typeface="Calibri"/>
              </a:rPr>
              <a:t>TCGA / AURORA</a:t>
            </a:r>
          </a:p>
        </p:txBody>
      </p:sp>
      <p:sp>
        <p:nvSpPr>
          <p:cNvPr id="18" name="Rectangle 17"/>
          <p:cNvSpPr/>
          <p:nvPr/>
        </p:nvSpPr>
        <p:spPr>
          <a:xfrm>
            <a:off x="457200" y="2350008"/>
            <a:ext cx="11247120" cy="658368"/>
          </a:xfrm>
          <a:prstGeom prst="rect">
            <a:avLst/>
          </a:prstGeom>
          <a:solidFill>
            <a:srgbClr val="EEF2F7"/>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514600"/>
            <a:ext cx="2606040" cy="365760"/>
          </a:xfrm>
          <a:prstGeom prst="rect">
            <a:avLst/>
          </a:prstGeom>
          <a:noFill/>
        </p:spPr>
        <p:txBody>
          <a:bodyPr wrap="square"/>
          <a:lstStyle/>
          <a:p>
            <a:pPr algn="l"/>
            <a:r>
              <a:rPr sz="1400" b="1">
                <a:solidFill>
                  <a:srgbClr val="003366"/>
                </a:solidFill>
                <a:latin typeface="Calibri"/>
              </a:rPr>
              <a:t>Neurological</a:t>
            </a:r>
          </a:p>
        </p:txBody>
      </p:sp>
      <p:sp>
        <p:nvSpPr>
          <p:cNvPr id="20" name="TextBox 19"/>
          <p:cNvSpPr txBox="1"/>
          <p:nvPr/>
        </p:nvSpPr>
        <p:spPr>
          <a:xfrm>
            <a:off x="3383280" y="2514600"/>
            <a:ext cx="4160520" cy="365760"/>
          </a:xfrm>
          <a:prstGeom prst="rect">
            <a:avLst/>
          </a:prstGeom>
          <a:noFill/>
        </p:spPr>
        <p:txBody>
          <a:bodyPr wrap="square"/>
          <a:lstStyle/>
          <a:p>
            <a:pPr algn="l"/>
            <a:r>
              <a:rPr sz="1400" b="1">
                <a:solidFill>
                  <a:srgbClr val="1A1A1A"/>
                </a:solidFill>
                <a:latin typeface="Calibri"/>
              </a:rPr>
              <a:t>Alzheimer’s Disease</a:t>
            </a:r>
          </a:p>
        </p:txBody>
      </p:sp>
      <p:sp>
        <p:nvSpPr>
          <p:cNvPr id="21" name="TextBox 20"/>
          <p:cNvSpPr txBox="1"/>
          <p:nvPr/>
        </p:nvSpPr>
        <p:spPr>
          <a:xfrm>
            <a:off x="7772400" y="2514600"/>
            <a:ext cx="3886200" cy="365760"/>
          </a:xfrm>
          <a:prstGeom prst="rect">
            <a:avLst/>
          </a:prstGeom>
          <a:noFill/>
        </p:spPr>
        <p:txBody>
          <a:bodyPr wrap="square"/>
          <a:lstStyle/>
          <a:p>
            <a:pPr algn="l"/>
            <a:r>
              <a:rPr sz="1400" b="0">
                <a:solidFill>
                  <a:srgbClr val="4A5566"/>
                </a:solidFill>
                <a:latin typeface="Calibri"/>
              </a:rPr>
              <a:t>ADNI</a:t>
            </a:r>
          </a:p>
        </p:txBody>
      </p:sp>
      <p:sp>
        <p:nvSpPr>
          <p:cNvPr id="22" name="Rectangle 21"/>
          <p:cNvSpPr/>
          <p:nvPr/>
        </p:nvSpPr>
        <p:spPr>
          <a:xfrm>
            <a:off x="457200" y="3008376"/>
            <a:ext cx="11247120" cy="65836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3172968"/>
            <a:ext cx="2606040" cy="365760"/>
          </a:xfrm>
          <a:prstGeom prst="rect">
            <a:avLst/>
          </a:prstGeom>
          <a:noFill/>
        </p:spPr>
        <p:txBody>
          <a:bodyPr wrap="square"/>
          <a:lstStyle/>
          <a:p>
            <a:pPr algn="l"/>
            <a:r>
              <a:rPr sz="1400" b="1">
                <a:solidFill>
                  <a:srgbClr val="003366"/>
                </a:solidFill>
                <a:latin typeface="Calibri"/>
              </a:rPr>
              <a:t>Autoimmune</a:t>
            </a:r>
          </a:p>
        </p:txBody>
      </p:sp>
      <p:sp>
        <p:nvSpPr>
          <p:cNvPr id="24" name="TextBox 23"/>
          <p:cNvSpPr txBox="1"/>
          <p:nvPr/>
        </p:nvSpPr>
        <p:spPr>
          <a:xfrm>
            <a:off x="3383280" y="3172968"/>
            <a:ext cx="4160520" cy="365760"/>
          </a:xfrm>
          <a:prstGeom prst="rect">
            <a:avLst/>
          </a:prstGeom>
          <a:noFill/>
        </p:spPr>
        <p:txBody>
          <a:bodyPr wrap="square"/>
          <a:lstStyle/>
          <a:p>
            <a:pPr algn="l"/>
            <a:r>
              <a:rPr sz="1400" b="1">
                <a:solidFill>
                  <a:srgbClr val="1A1A1A"/>
                </a:solidFill>
                <a:latin typeface="Calibri"/>
              </a:rPr>
              <a:t>Rheumatoid Arthritis</a:t>
            </a:r>
          </a:p>
        </p:txBody>
      </p:sp>
      <p:sp>
        <p:nvSpPr>
          <p:cNvPr id="25" name="TextBox 24"/>
          <p:cNvSpPr txBox="1"/>
          <p:nvPr/>
        </p:nvSpPr>
        <p:spPr>
          <a:xfrm>
            <a:off x="7772400" y="3172968"/>
            <a:ext cx="3886200" cy="365760"/>
          </a:xfrm>
          <a:prstGeom prst="rect">
            <a:avLst/>
          </a:prstGeom>
          <a:noFill/>
        </p:spPr>
        <p:txBody>
          <a:bodyPr wrap="square"/>
          <a:lstStyle/>
          <a:p>
            <a:pPr algn="l"/>
            <a:r>
              <a:rPr sz="1400" b="0">
                <a:solidFill>
                  <a:srgbClr val="4A5566"/>
                </a:solidFill>
                <a:latin typeface="Calibri"/>
              </a:rPr>
              <a:t>GSE138747</a:t>
            </a:r>
          </a:p>
        </p:txBody>
      </p:sp>
      <p:sp>
        <p:nvSpPr>
          <p:cNvPr id="26" name="Rectangle 25"/>
          <p:cNvSpPr/>
          <p:nvPr/>
        </p:nvSpPr>
        <p:spPr>
          <a:xfrm>
            <a:off x="457200" y="3666744"/>
            <a:ext cx="11247120" cy="658368"/>
          </a:xfrm>
          <a:prstGeom prst="rect">
            <a:avLst/>
          </a:prstGeom>
          <a:solidFill>
            <a:srgbClr val="EEF2F7"/>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3831336"/>
            <a:ext cx="2606040" cy="365760"/>
          </a:xfrm>
          <a:prstGeom prst="rect">
            <a:avLst/>
          </a:prstGeom>
          <a:noFill/>
        </p:spPr>
        <p:txBody>
          <a:bodyPr wrap="square"/>
          <a:lstStyle/>
          <a:p>
            <a:pPr algn="l"/>
            <a:r>
              <a:rPr sz="1400" b="1">
                <a:solidFill>
                  <a:srgbClr val="003366"/>
                </a:solidFill>
                <a:latin typeface="Calibri"/>
              </a:rPr>
              <a:t>Metabolic</a:t>
            </a:r>
          </a:p>
        </p:txBody>
      </p:sp>
      <p:sp>
        <p:nvSpPr>
          <p:cNvPr id="28" name="TextBox 27"/>
          <p:cNvSpPr txBox="1"/>
          <p:nvPr/>
        </p:nvSpPr>
        <p:spPr>
          <a:xfrm>
            <a:off x="3383280" y="3831336"/>
            <a:ext cx="4160520" cy="365760"/>
          </a:xfrm>
          <a:prstGeom prst="rect">
            <a:avLst/>
          </a:prstGeom>
          <a:noFill/>
        </p:spPr>
        <p:txBody>
          <a:bodyPr wrap="square"/>
          <a:lstStyle/>
          <a:p>
            <a:pPr algn="l"/>
            <a:r>
              <a:rPr sz="1400" b="1">
                <a:solidFill>
                  <a:srgbClr val="1A1A1A"/>
                </a:solidFill>
                <a:latin typeface="Calibri"/>
              </a:rPr>
              <a:t>Type 2 Diabetes</a:t>
            </a:r>
          </a:p>
        </p:txBody>
      </p:sp>
      <p:sp>
        <p:nvSpPr>
          <p:cNvPr id="29" name="TextBox 28"/>
          <p:cNvSpPr txBox="1"/>
          <p:nvPr/>
        </p:nvSpPr>
        <p:spPr>
          <a:xfrm>
            <a:off x="7772400" y="3831336"/>
            <a:ext cx="3886200" cy="365760"/>
          </a:xfrm>
          <a:prstGeom prst="rect">
            <a:avLst/>
          </a:prstGeom>
          <a:noFill/>
        </p:spPr>
        <p:txBody>
          <a:bodyPr wrap="square"/>
          <a:lstStyle/>
          <a:p>
            <a:pPr algn="l"/>
            <a:r>
              <a:rPr sz="1400" b="0">
                <a:solidFill>
                  <a:srgbClr val="4A5566"/>
                </a:solidFill>
                <a:latin typeface="Calibri"/>
              </a:rPr>
              <a:t>KORA F4/FF4</a:t>
            </a:r>
          </a:p>
        </p:txBody>
      </p:sp>
      <p:sp>
        <p:nvSpPr>
          <p:cNvPr id="30" name="Rectangle 29"/>
          <p:cNvSpPr/>
          <p:nvPr/>
        </p:nvSpPr>
        <p:spPr>
          <a:xfrm>
            <a:off x="457200" y="4325112"/>
            <a:ext cx="11247120" cy="65836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4489704"/>
            <a:ext cx="2606040" cy="365760"/>
          </a:xfrm>
          <a:prstGeom prst="rect">
            <a:avLst/>
          </a:prstGeom>
          <a:noFill/>
        </p:spPr>
        <p:txBody>
          <a:bodyPr wrap="square"/>
          <a:lstStyle/>
          <a:p>
            <a:pPr algn="l"/>
            <a:r>
              <a:rPr sz="1400" b="1">
                <a:solidFill>
                  <a:srgbClr val="003366"/>
                </a:solidFill>
                <a:latin typeface="Calibri"/>
              </a:rPr>
              <a:t>Aging / Epigenetic</a:t>
            </a:r>
          </a:p>
        </p:txBody>
      </p:sp>
      <p:sp>
        <p:nvSpPr>
          <p:cNvPr id="32" name="TextBox 31"/>
          <p:cNvSpPr txBox="1"/>
          <p:nvPr/>
        </p:nvSpPr>
        <p:spPr>
          <a:xfrm>
            <a:off x="3383280" y="4489704"/>
            <a:ext cx="4160520" cy="365760"/>
          </a:xfrm>
          <a:prstGeom prst="rect">
            <a:avLst/>
          </a:prstGeom>
          <a:noFill/>
        </p:spPr>
        <p:txBody>
          <a:bodyPr wrap="square"/>
          <a:lstStyle/>
          <a:p>
            <a:pPr algn="l"/>
            <a:r>
              <a:rPr sz="1400" b="1">
                <a:solidFill>
                  <a:srgbClr val="1A1A1A"/>
                </a:solidFill>
                <a:latin typeface="Calibri"/>
              </a:rPr>
              <a:t>Epigenetic Aging</a:t>
            </a:r>
          </a:p>
        </p:txBody>
      </p:sp>
      <p:sp>
        <p:nvSpPr>
          <p:cNvPr id="33" name="TextBox 32"/>
          <p:cNvSpPr txBox="1"/>
          <p:nvPr/>
        </p:nvSpPr>
        <p:spPr>
          <a:xfrm>
            <a:off x="7772400" y="4489704"/>
            <a:ext cx="3886200" cy="365760"/>
          </a:xfrm>
          <a:prstGeom prst="rect">
            <a:avLst/>
          </a:prstGeom>
          <a:noFill/>
        </p:spPr>
        <p:txBody>
          <a:bodyPr wrap="square"/>
          <a:lstStyle/>
          <a:p>
            <a:pPr algn="l"/>
            <a:r>
              <a:rPr sz="1400" b="0">
                <a:solidFill>
                  <a:srgbClr val="4A5566"/>
                </a:solidFill>
                <a:latin typeface="Calibri"/>
              </a:rPr>
              <a:t>LBC1936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7315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41832"/>
            <a:ext cx="109728" cy="59161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73952"/>
            <a:ext cx="12191695"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64592"/>
            <a:ext cx="11430000" cy="502920"/>
          </a:xfrm>
          <a:prstGeom prst="rect">
            <a:avLst/>
          </a:prstGeom>
          <a:noFill/>
        </p:spPr>
        <p:txBody>
          <a:bodyPr wrap="square"/>
          <a:lstStyle/>
          <a:p>
            <a:pPr algn="l"/>
            <a:r>
              <a:rPr sz="2600" b="1">
                <a:solidFill>
                  <a:srgbClr val="FFFFFF"/>
                </a:solidFill>
                <a:latin typeface="Calibri"/>
              </a:rPr>
              <a:t>Technical Approach</a:t>
            </a:r>
          </a:p>
        </p:txBody>
      </p:sp>
      <p:sp>
        <p:nvSpPr>
          <p:cNvPr id="7" name="TextBox 6"/>
          <p:cNvSpPr txBox="1"/>
          <p:nvPr/>
        </p:nvSpPr>
        <p:spPr>
          <a:xfrm>
            <a:off x="320040" y="530352"/>
            <a:ext cx="11430000" cy="292608"/>
          </a:xfrm>
          <a:prstGeom prst="rect">
            <a:avLst/>
          </a:prstGeom>
          <a:noFill/>
        </p:spPr>
        <p:txBody>
          <a:bodyPr wrap="square"/>
          <a:lstStyle/>
          <a:p>
            <a:pPr algn="l"/>
            <a:r>
              <a:rPr sz="1200" b="0">
                <a:solidFill>
                  <a:srgbClr val="CCCCCC"/>
                </a:solidFill>
                <a:latin typeface="Calibri"/>
              </a:rPr>
              <a:t>From longitudinal cohorts to searchable spatio-temporal architectures</a:t>
            </a:r>
          </a:p>
        </p:txBody>
      </p:sp>
      <p:sp>
        <p:nvSpPr>
          <p:cNvPr id="8" name="TextBox 7"/>
          <p:cNvSpPr txBox="1"/>
          <p:nvPr/>
        </p:nvSpPr>
        <p:spPr>
          <a:xfrm>
            <a:off x="320040" y="6510528"/>
            <a:ext cx="7772400" cy="292608"/>
          </a:xfrm>
          <a:prstGeom prst="rect">
            <a:avLst/>
          </a:prstGeom>
          <a:noFill/>
        </p:spPr>
        <p:txBody>
          <a:bodyPr wrap="square"/>
          <a:lstStyle/>
          <a:p>
            <a:pPr algn="l"/>
            <a:r>
              <a:rPr sz="1000" b="0">
                <a:solidFill>
                  <a:srgbClr val="FFFFFF"/>
                </a:solidFill>
                <a:latin typeface="Calibri"/>
              </a:rPr>
              <a:t>Adam Cankaya  ·  Florida Atlantic University  ·  College of Engineering and Computer Science</a:t>
            </a:r>
          </a:p>
        </p:txBody>
      </p:sp>
      <p:sp>
        <p:nvSpPr>
          <p:cNvPr id="9" name="TextBox 8"/>
          <p:cNvSpPr txBox="1"/>
          <p:nvPr/>
        </p:nvSpPr>
        <p:spPr>
          <a:xfrm>
            <a:off x="8412480" y="6510528"/>
            <a:ext cx="3474720" cy="292608"/>
          </a:xfrm>
          <a:prstGeom prst="rect">
            <a:avLst/>
          </a:prstGeom>
          <a:noFill/>
        </p:spPr>
        <p:txBody>
          <a:bodyPr wrap="square"/>
          <a:lstStyle/>
          <a:p>
            <a:pPr algn="r"/>
            <a:r>
              <a:rPr sz="1000" b="0">
                <a:solidFill>
                  <a:srgbClr val="CCCCCC"/>
                </a:solidFill>
                <a:latin typeface="Calibri"/>
              </a:rPr>
              <a:t>acankaya2017@fau.edu</a:t>
            </a:r>
          </a:p>
        </p:txBody>
      </p:sp>
      <p:sp>
        <p:nvSpPr>
          <p:cNvPr id="10" name="Rounded Rectangle 9"/>
          <p:cNvSpPr/>
          <p:nvPr/>
        </p:nvSpPr>
        <p:spPr>
          <a:xfrm>
            <a:off x="365760" y="1417320"/>
            <a:ext cx="1828800" cy="3931920"/>
          </a:xfrm>
          <a:prstGeom prst="roundRect">
            <a:avLst>
              <a:gd name="adj" fmla="val 8000"/>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60120" y="1600200"/>
            <a:ext cx="640080" cy="64008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691640"/>
            <a:ext cx="640080" cy="457200"/>
          </a:xfrm>
          <a:prstGeom prst="rect">
            <a:avLst/>
          </a:prstGeom>
          <a:noFill/>
        </p:spPr>
        <p:txBody>
          <a:bodyPr wrap="square"/>
          <a:lstStyle/>
          <a:p>
            <a:pPr algn="ctr"/>
            <a:r>
              <a:rPr sz="2000" b="1">
                <a:solidFill>
                  <a:srgbClr val="FFFFFF"/>
                </a:solidFill>
                <a:latin typeface="Calibri"/>
              </a:rPr>
              <a:t>1</a:t>
            </a:r>
          </a:p>
        </p:txBody>
      </p:sp>
      <p:sp>
        <p:nvSpPr>
          <p:cNvPr id="13" name="TextBox 12"/>
          <p:cNvSpPr txBox="1"/>
          <p:nvPr/>
        </p:nvSpPr>
        <p:spPr>
          <a:xfrm>
            <a:off x="457200" y="2423160"/>
            <a:ext cx="1645920" cy="1005840"/>
          </a:xfrm>
          <a:prstGeom prst="rect">
            <a:avLst/>
          </a:prstGeom>
          <a:noFill/>
        </p:spPr>
        <p:txBody>
          <a:bodyPr wrap="square"/>
          <a:lstStyle/>
          <a:p>
            <a:pPr algn="ctr"/>
            <a:r>
              <a:rPr sz="1500" b="1">
                <a:solidFill>
                  <a:srgbClr val="003366"/>
                </a:solidFill>
                <a:latin typeface="Calibri"/>
              </a:rPr>
              <a:t>Cohorts &amp;
holdout</a:t>
            </a:r>
          </a:p>
        </p:txBody>
      </p:sp>
      <p:sp>
        <p:nvSpPr>
          <p:cNvPr id="14" name="TextBox 13"/>
          <p:cNvSpPr txBox="1"/>
          <p:nvPr/>
        </p:nvSpPr>
        <p:spPr>
          <a:xfrm>
            <a:off x="457200" y="3520440"/>
            <a:ext cx="1645920" cy="1371600"/>
          </a:xfrm>
          <a:prstGeom prst="rect">
            <a:avLst/>
          </a:prstGeom>
          <a:noFill/>
        </p:spPr>
        <p:txBody>
          <a:bodyPr wrap="square"/>
          <a:lstStyle/>
          <a:p>
            <a:pPr algn="ctr"/>
            <a:r>
              <a:rPr sz="1200" b="0">
                <a:solidFill>
                  <a:srgbClr val="4A5566"/>
                </a:solidFill>
                <a:latin typeface="Calibri"/>
              </a:rPr>
              <a:t>Patient-level 80/20
no leakage</a:t>
            </a:r>
          </a:p>
        </p:txBody>
      </p:sp>
      <p:sp>
        <p:nvSpPr>
          <p:cNvPr id="15" name="Right Arrow 14"/>
          <p:cNvSpPr/>
          <p:nvPr/>
        </p:nvSpPr>
        <p:spPr>
          <a:xfrm>
            <a:off x="2148840" y="3108960"/>
            <a:ext cx="201168" cy="201168"/>
          </a:xfrm>
          <a:prstGeom prst="rightArrow">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331720" y="1417320"/>
            <a:ext cx="1828800" cy="3931920"/>
          </a:xfrm>
          <a:prstGeom prst="roundRect">
            <a:avLst>
              <a:gd name="adj" fmla="val 8000"/>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926080" y="1600200"/>
            <a:ext cx="640080" cy="640080"/>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26080" y="1691640"/>
            <a:ext cx="640080" cy="457200"/>
          </a:xfrm>
          <a:prstGeom prst="rect">
            <a:avLst/>
          </a:prstGeom>
          <a:noFill/>
        </p:spPr>
        <p:txBody>
          <a:bodyPr wrap="square"/>
          <a:lstStyle/>
          <a:p>
            <a:pPr algn="ctr"/>
            <a:r>
              <a:rPr sz="2000" b="1">
                <a:solidFill>
                  <a:srgbClr val="FFFFFF"/>
                </a:solidFill>
                <a:latin typeface="Calibri"/>
              </a:rPr>
              <a:t>2</a:t>
            </a:r>
          </a:p>
        </p:txBody>
      </p:sp>
      <p:sp>
        <p:nvSpPr>
          <p:cNvPr id="19" name="TextBox 18"/>
          <p:cNvSpPr txBox="1"/>
          <p:nvPr/>
        </p:nvSpPr>
        <p:spPr>
          <a:xfrm>
            <a:off x="2423160" y="2423160"/>
            <a:ext cx="1645920" cy="1005840"/>
          </a:xfrm>
          <a:prstGeom prst="rect">
            <a:avLst/>
          </a:prstGeom>
          <a:noFill/>
        </p:spPr>
        <p:txBody>
          <a:bodyPr wrap="square"/>
          <a:lstStyle/>
          <a:p>
            <a:pPr algn="ctr"/>
            <a:r>
              <a:rPr sz="1500" b="1">
                <a:solidFill>
                  <a:srgbClr val="003366"/>
                </a:solidFill>
                <a:latin typeface="Calibri"/>
              </a:rPr>
              <a:t>Feature
maps</a:t>
            </a:r>
          </a:p>
        </p:txBody>
      </p:sp>
      <p:sp>
        <p:nvSpPr>
          <p:cNvPr id="20" name="TextBox 19"/>
          <p:cNvSpPr txBox="1"/>
          <p:nvPr/>
        </p:nvSpPr>
        <p:spPr>
          <a:xfrm>
            <a:off x="2423160" y="3520440"/>
            <a:ext cx="1645920" cy="1371600"/>
          </a:xfrm>
          <a:prstGeom prst="rect">
            <a:avLst/>
          </a:prstGeom>
          <a:noFill/>
        </p:spPr>
        <p:txBody>
          <a:bodyPr wrap="square"/>
          <a:lstStyle/>
          <a:p>
            <a:pPr algn="ctr"/>
            <a:r>
              <a:rPr sz="1200" b="0">
                <a:solidFill>
                  <a:srgbClr val="4A5566"/>
                </a:solidFill>
                <a:latin typeface="Calibri"/>
              </a:rPr>
              <a:t>Spatial sites ×
visits &amp; Δt</a:t>
            </a:r>
          </a:p>
        </p:txBody>
      </p:sp>
      <p:sp>
        <p:nvSpPr>
          <p:cNvPr id="21" name="Right Arrow 20"/>
          <p:cNvSpPr/>
          <p:nvPr/>
        </p:nvSpPr>
        <p:spPr>
          <a:xfrm>
            <a:off x="4114800" y="3108960"/>
            <a:ext cx="201168" cy="201168"/>
          </a:xfrm>
          <a:prstGeom prst="rightArrow">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297680" y="1417320"/>
            <a:ext cx="1828800" cy="3931920"/>
          </a:xfrm>
          <a:prstGeom prst="roundRect">
            <a:avLst>
              <a:gd name="adj" fmla="val 8000"/>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040" y="1600200"/>
            <a:ext cx="640080" cy="64008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040" y="1691640"/>
            <a:ext cx="640080" cy="457200"/>
          </a:xfrm>
          <a:prstGeom prst="rect">
            <a:avLst/>
          </a:prstGeom>
          <a:noFill/>
        </p:spPr>
        <p:txBody>
          <a:bodyPr wrap="square"/>
          <a:lstStyle/>
          <a:p>
            <a:pPr algn="ctr"/>
            <a:r>
              <a:rPr sz="2000" b="1">
                <a:solidFill>
                  <a:srgbClr val="FFFFFF"/>
                </a:solidFill>
                <a:latin typeface="Calibri"/>
              </a:rPr>
              <a:t>3</a:t>
            </a:r>
          </a:p>
        </p:txBody>
      </p:sp>
      <p:sp>
        <p:nvSpPr>
          <p:cNvPr id="25" name="TextBox 24"/>
          <p:cNvSpPr txBox="1"/>
          <p:nvPr/>
        </p:nvSpPr>
        <p:spPr>
          <a:xfrm>
            <a:off x="4389120" y="2423160"/>
            <a:ext cx="1645920" cy="1005840"/>
          </a:xfrm>
          <a:prstGeom prst="rect">
            <a:avLst/>
          </a:prstGeom>
          <a:noFill/>
        </p:spPr>
        <p:txBody>
          <a:bodyPr wrap="square"/>
          <a:lstStyle/>
          <a:p>
            <a:pPr algn="ctr"/>
            <a:r>
              <a:rPr sz="1500" b="1">
                <a:solidFill>
                  <a:srgbClr val="003366"/>
                </a:solidFill>
                <a:latin typeface="Calibri"/>
              </a:rPr>
              <a:t>4D HDF5
tensors</a:t>
            </a:r>
          </a:p>
        </p:txBody>
      </p:sp>
      <p:sp>
        <p:nvSpPr>
          <p:cNvPr id="26" name="TextBox 25"/>
          <p:cNvSpPr txBox="1"/>
          <p:nvPr/>
        </p:nvSpPr>
        <p:spPr>
          <a:xfrm>
            <a:off x="4389120" y="3520440"/>
            <a:ext cx="1645920" cy="1371600"/>
          </a:xfrm>
          <a:prstGeom prst="rect">
            <a:avLst/>
          </a:prstGeom>
          <a:noFill/>
        </p:spPr>
        <p:txBody>
          <a:bodyPr wrap="square"/>
          <a:lstStyle/>
          <a:p>
            <a:pPr algn="ctr"/>
            <a:r>
              <a:rPr sz="1200" b="0">
                <a:solidFill>
                  <a:srgbClr val="4A5566"/>
                </a:solidFill>
                <a:latin typeface="Calibri"/>
              </a:rPr>
              <a:t>(B, T, S, C)
multi-omic</a:t>
            </a:r>
          </a:p>
        </p:txBody>
      </p:sp>
      <p:sp>
        <p:nvSpPr>
          <p:cNvPr id="27" name="Right Arrow 26"/>
          <p:cNvSpPr/>
          <p:nvPr/>
        </p:nvSpPr>
        <p:spPr>
          <a:xfrm>
            <a:off x="6080760" y="3108960"/>
            <a:ext cx="201168" cy="201168"/>
          </a:xfrm>
          <a:prstGeom prst="rightArrow">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263640" y="1417320"/>
            <a:ext cx="1828800" cy="3931920"/>
          </a:xfrm>
          <a:prstGeom prst="roundRect">
            <a:avLst>
              <a:gd name="adj" fmla="val 8000"/>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858000" y="1600200"/>
            <a:ext cx="640080" cy="640080"/>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0" y="1691640"/>
            <a:ext cx="640080" cy="457200"/>
          </a:xfrm>
          <a:prstGeom prst="rect">
            <a:avLst/>
          </a:prstGeom>
          <a:noFill/>
        </p:spPr>
        <p:txBody>
          <a:bodyPr wrap="square"/>
          <a:lstStyle/>
          <a:p>
            <a:pPr algn="ctr"/>
            <a:r>
              <a:rPr sz="2000" b="1">
                <a:solidFill>
                  <a:srgbClr val="FFFFFF"/>
                </a:solidFill>
                <a:latin typeface="Calibri"/>
              </a:rPr>
              <a:t>4</a:t>
            </a:r>
          </a:p>
        </p:txBody>
      </p:sp>
      <p:sp>
        <p:nvSpPr>
          <p:cNvPr id="31" name="TextBox 30"/>
          <p:cNvSpPr txBox="1"/>
          <p:nvPr/>
        </p:nvSpPr>
        <p:spPr>
          <a:xfrm>
            <a:off x="6355080" y="2423160"/>
            <a:ext cx="1645920" cy="1005840"/>
          </a:xfrm>
          <a:prstGeom prst="rect">
            <a:avLst/>
          </a:prstGeom>
          <a:noFill/>
        </p:spPr>
        <p:txBody>
          <a:bodyPr wrap="square"/>
          <a:lstStyle/>
          <a:p>
            <a:pPr algn="ctr"/>
            <a:r>
              <a:rPr sz="1500" b="1">
                <a:solidFill>
                  <a:srgbClr val="003366"/>
                </a:solidFill>
                <a:latin typeface="Calibri"/>
              </a:rPr>
              <a:t>NAS
modules</a:t>
            </a:r>
          </a:p>
        </p:txBody>
      </p:sp>
      <p:sp>
        <p:nvSpPr>
          <p:cNvPr id="32" name="TextBox 31"/>
          <p:cNvSpPr txBox="1"/>
          <p:nvPr/>
        </p:nvSpPr>
        <p:spPr>
          <a:xfrm>
            <a:off x="6355080" y="3520440"/>
            <a:ext cx="1645920" cy="1371600"/>
          </a:xfrm>
          <a:prstGeom prst="rect">
            <a:avLst/>
          </a:prstGeom>
          <a:noFill/>
        </p:spPr>
        <p:txBody>
          <a:bodyPr wrap="square"/>
          <a:lstStyle/>
          <a:p>
            <a:pPr algn="ctr"/>
            <a:r>
              <a:rPr sz="1200" b="0">
                <a:solidFill>
                  <a:srgbClr val="4A5566"/>
                </a:solidFill>
                <a:latin typeface="Calibri"/>
              </a:rPr>
              <a:t>CNN / Transformer
+ ConvLSTM / Attn</a:t>
            </a:r>
          </a:p>
        </p:txBody>
      </p:sp>
      <p:sp>
        <p:nvSpPr>
          <p:cNvPr id="33" name="Right Arrow 32"/>
          <p:cNvSpPr/>
          <p:nvPr/>
        </p:nvSpPr>
        <p:spPr>
          <a:xfrm>
            <a:off x="8046720" y="3108960"/>
            <a:ext cx="201168" cy="201168"/>
          </a:xfrm>
          <a:prstGeom prst="rightArrow">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29600" y="1417320"/>
            <a:ext cx="1828800" cy="3931920"/>
          </a:xfrm>
          <a:prstGeom prst="roundRect">
            <a:avLst>
              <a:gd name="adj" fmla="val 8000"/>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823960" y="1600200"/>
            <a:ext cx="640080" cy="64008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23960" y="1691640"/>
            <a:ext cx="640080" cy="457200"/>
          </a:xfrm>
          <a:prstGeom prst="rect">
            <a:avLst/>
          </a:prstGeom>
          <a:noFill/>
        </p:spPr>
        <p:txBody>
          <a:bodyPr wrap="square"/>
          <a:lstStyle/>
          <a:p>
            <a:pPr algn="ctr"/>
            <a:r>
              <a:rPr sz="2000" b="1">
                <a:solidFill>
                  <a:srgbClr val="FFFFFF"/>
                </a:solidFill>
                <a:latin typeface="Calibri"/>
              </a:rPr>
              <a:t>5</a:t>
            </a:r>
          </a:p>
        </p:txBody>
      </p:sp>
      <p:sp>
        <p:nvSpPr>
          <p:cNvPr id="37" name="TextBox 36"/>
          <p:cNvSpPr txBox="1"/>
          <p:nvPr/>
        </p:nvSpPr>
        <p:spPr>
          <a:xfrm>
            <a:off x="8321040" y="2423160"/>
            <a:ext cx="1645920" cy="1005840"/>
          </a:xfrm>
          <a:prstGeom prst="rect">
            <a:avLst/>
          </a:prstGeom>
          <a:noFill/>
        </p:spPr>
        <p:txBody>
          <a:bodyPr wrap="square"/>
          <a:lstStyle/>
          <a:p>
            <a:pPr algn="ctr"/>
            <a:r>
              <a:rPr sz="1500" b="1">
                <a:solidFill>
                  <a:srgbClr val="003366"/>
                </a:solidFill>
                <a:latin typeface="Calibri"/>
              </a:rPr>
              <a:t>Optuna &amp;
causal CV</a:t>
            </a:r>
          </a:p>
        </p:txBody>
      </p:sp>
      <p:sp>
        <p:nvSpPr>
          <p:cNvPr id="38" name="TextBox 37"/>
          <p:cNvSpPr txBox="1"/>
          <p:nvPr/>
        </p:nvSpPr>
        <p:spPr>
          <a:xfrm>
            <a:off x="8321040" y="3520440"/>
            <a:ext cx="1645920" cy="1371600"/>
          </a:xfrm>
          <a:prstGeom prst="rect">
            <a:avLst/>
          </a:prstGeom>
          <a:noFill/>
        </p:spPr>
        <p:txBody>
          <a:bodyPr wrap="square"/>
          <a:lstStyle/>
          <a:p>
            <a:pPr algn="ctr"/>
            <a:r>
              <a:rPr sz="1200" b="0">
                <a:solidFill>
                  <a:srgbClr val="4A5566"/>
                </a:solidFill>
                <a:latin typeface="Calibri"/>
              </a:rPr>
              <a:t>Track A then B
distributed search</a:t>
            </a:r>
          </a:p>
        </p:txBody>
      </p:sp>
      <p:sp>
        <p:nvSpPr>
          <p:cNvPr id="39" name="Right Arrow 38"/>
          <p:cNvSpPr/>
          <p:nvPr/>
        </p:nvSpPr>
        <p:spPr>
          <a:xfrm>
            <a:off x="10012680" y="3108960"/>
            <a:ext cx="201168" cy="201168"/>
          </a:xfrm>
          <a:prstGeom prst="rightArrow">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0195560" y="1417320"/>
            <a:ext cx="1828800" cy="3931920"/>
          </a:xfrm>
          <a:prstGeom prst="roundRect">
            <a:avLst>
              <a:gd name="adj" fmla="val 8000"/>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0789920" y="1600200"/>
            <a:ext cx="640080" cy="640080"/>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789920" y="1691640"/>
            <a:ext cx="640080" cy="457200"/>
          </a:xfrm>
          <a:prstGeom prst="rect">
            <a:avLst/>
          </a:prstGeom>
          <a:noFill/>
        </p:spPr>
        <p:txBody>
          <a:bodyPr wrap="square"/>
          <a:lstStyle/>
          <a:p>
            <a:pPr algn="ctr"/>
            <a:r>
              <a:rPr sz="2000" b="1">
                <a:solidFill>
                  <a:srgbClr val="FFFFFF"/>
                </a:solidFill>
                <a:latin typeface="Calibri"/>
              </a:rPr>
              <a:t>6</a:t>
            </a:r>
          </a:p>
        </p:txBody>
      </p:sp>
      <p:sp>
        <p:nvSpPr>
          <p:cNvPr id="43" name="TextBox 42"/>
          <p:cNvSpPr txBox="1"/>
          <p:nvPr/>
        </p:nvSpPr>
        <p:spPr>
          <a:xfrm>
            <a:off x="10287000" y="2423160"/>
            <a:ext cx="1645920" cy="1005840"/>
          </a:xfrm>
          <a:prstGeom prst="rect">
            <a:avLst/>
          </a:prstGeom>
          <a:noFill/>
        </p:spPr>
        <p:txBody>
          <a:bodyPr wrap="square"/>
          <a:lstStyle/>
          <a:p>
            <a:pPr algn="ctr"/>
            <a:r>
              <a:rPr sz="1500" b="1">
                <a:solidFill>
                  <a:srgbClr val="003366"/>
                </a:solidFill>
                <a:latin typeface="Calibri"/>
              </a:rPr>
              <a:t>Eval &amp;
attr.</a:t>
            </a:r>
          </a:p>
        </p:txBody>
      </p:sp>
      <p:sp>
        <p:nvSpPr>
          <p:cNvPr id="44" name="TextBox 43"/>
          <p:cNvSpPr txBox="1"/>
          <p:nvPr/>
        </p:nvSpPr>
        <p:spPr>
          <a:xfrm>
            <a:off x="10287000" y="3520440"/>
            <a:ext cx="1645920" cy="1371600"/>
          </a:xfrm>
          <a:prstGeom prst="rect">
            <a:avLst/>
          </a:prstGeom>
          <a:noFill/>
        </p:spPr>
        <p:txBody>
          <a:bodyPr wrap="square"/>
          <a:lstStyle/>
          <a:p>
            <a:pPr algn="ctr"/>
            <a:r>
              <a:rPr sz="1200" b="0">
                <a:solidFill>
                  <a:srgbClr val="4A5566"/>
                </a:solidFill>
                <a:latin typeface="Calibri"/>
              </a:rPr>
              <a:t>Holdout A vs B
Captum / Streamlit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7315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41832"/>
            <a:ext cx="109728" cy="59161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73952"/>
            <a:ext cx="12191695"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64592"/>
            <a:ext cx="11430000" cy="502920"/>
          </a:xfrm>
          <a:prstGeom prst="rect">
            <a:avLst/>
          </a:prstGeom>
          <a:noFill/>
        </p:spPr>
        <p:txBody>
          <a:bodyPr wrap="square"/>
          <a:lstStyle/>
          <a:p>
            <a:pPr algn="l"/>
            <a:r>
              <a:rPr sz="2600" b="1">
                <a:solidFill>
                  <a:srgbClr val="FFFFFF"/>
                </a:solidFill>
                <a:latin typeface="Calibri"/>
              </a:rPr>
              <a:t>Three-Year Roadmap</a:t>
            </a:r>
          </a:p>
        </p:txBody>
      </p:sp>
      <p:sp>
        <p:nvSpPr>
          <p:cNvPr id="7" name="TextBox 6"/>
          <p:cNvSpPr txBox="1"/>
          <p:nvPr/>
        </p:nvSpPr>
        <p:spPr>
          <a:xfrm>
            <a:off x="320040" y="530352"/>
            <a:ext cx="11430000" cy="292608"/>
          </a:xfrm>
          <a:prstGeom prst="rect">
            <a:avLst/>
          </a:prstGeom>
          <a:noFill/>
        </p:spPr>
        <p:txBody>
          <a:bodyPr wrap="square"/>
          <a:lstStyle/>
          <a:p>
            <a:pPr algn="l"/>
            <a:r>
              <a:rPr sz="1200" b="0">
                <a:solidFill>
                  <a:srgbClr val="CCCCCC"/>
                </a:solidFill>
                <a:latin typeface="Calibri"/>
              </a:rPr>
              <a:t>Fall 2026 → Summer 2029  ·  24 checklist tasks synced to GitHub issues</a:t>
            </a:r>
          </a:p>
        </p:txBody>
      </p:sp>
      <p:sp>
        <p:nvSpPr>
          <p:cNvPr id="8" name="TextBox 7"/>
          <p:cNvSpPr txBox="1"/>
          <p:nvPr/>
        </p:nvSpPr>
        <p:spPr>
          <a:xfrm>
            <a:off x="320040" y="6510528"/>
            <a:ext cx="7772400" cy="292608"/>
          </a:xfrm>
          <a:prstGeom prst="rect">
            <a:avLst/>
          </a:prstGeom>
          <a:noFill/>
        </p:spPr>
        <p:txBody>
          <a:bodyPr wrap="square"/>
          <a:lstStyle/>
          <a:p>
            <a:pPr algn="l"/>
            <a:r>
              <a:rPr sz="1000" b="0">
                <a:solidFill>
                  <a:srgbClr val="FFFFFF"/>
                </a:solidFill>
                <a:latin typeface="Calibri"/>
              </a:rPr>
              <a:t>Adam Cankaya  ·  Florida Atlantic University  ·  College of Engineering and Computer Science</a:t>
            </a:r>
          </a:p>
        </p:txBody>
      </p:sp>
      <p:sp>
        <p:nvSpPr>
          <p:cNvPr id="9" name="TextBox 8"/>
          <p:cNvSpPr txBox="1"/>
          <p:nvPr/>
        </p:nvSpPr>
        <p:spPr>
          <a:xfrm>
            <a:off x="8412480" y="6510528"/>
            <a:ext cx="3474720" cy="292608"/>
          </a:xfrm>
          <a:prstGeom prst="rect">
            <a:avLst/>
          </a:prstGeom>
          <a:noFill/>
        </p:spPr>
        <p:txBody>
          <a:bodyPr wrap="square"/>
          <a:lstStyle/>
          <a:p>
            <a:pPr algn="r"/>
            <a:r>
              <a:rPr sz="1000" b="0">
                <a:solidFill>
                  <a:srgbClr val="CCCCCC"/>
                </a:solidFill>
                <a:latin typeface="Calibri"/>
              </a:rPr>
              <a:t>acankaya2017@fau.edu</a:t>
            </a:r>
          </a:p>
        </p:txBody>
      </p:sp>
      <p:sp>
        <p:nvSpPr>
          <p:cNvPr id="10" name="Rounded Rectangle 9"/>
          <p:cNvSpPr/>
          <p:nvPr/>
        </p:nvSpPr>
        <p:spPr>
          <a:xfrm>
            <a:off x="411480" y="1234440"/>
            <a:ext cx="3703320" cy="4434840"/>
          </a:xfrm>
          <a:prstGeom prst="roundRect">
            <a:avLst>
              <a:gd name="adj" fmla="val 8000"/>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1234440"/>
            <a:ext cx="3703320" cy="9601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1298448"/>
            <a:ext cx="3337560" cy="411480"/>
          </a:xfrm>
          <a:prstGeom prst="rect">
            <a:avLst/>
          </a:prstGeom>
          <a:noFill/>
        </p:spPr>
        <p:txBody>
          <a:bodyPr wrap="square"/>
          <a:lstStyle/>
          <a:p>
            <a:pPr algn="l"/>
            <a:r>
              <a:rPr sz="2200" b="1">
                <a:solidFill>
                  <a:srgbClr val="FFFFFF"/>
                </a:solidFill>
                <a:latin typeface="Calibri"/>
              </a:rPr>
              <a:t>Year 1</a:t>
            </a:r>
          </a:p>
        </p:txBody>
      </p:sp>
      <p:sp>
        <p:nvSpPr>
          <p:cNvPr id="13" name="TextBox 12"/>
          <p:cNvSpPr txBox="1"/>
          <p:nvPr/>
        </p:nvSpPr>
        <p:spPr>
          <a:xfrm>
            <a:off x="594360" y="1737360"/>
            <a:ext cx="3337560" cy="320040"/>
          </a:xfrm>
          <a:prstGeom prst="rect">
            <a:avLst/>
          </a:prstGeom>
          <a:noFill/>
        </p:spPr>
        <p:txBody>
          <a:bodyPr wrap="square"/>
          <a:lstStyle/>
          <a:p>
            <a:pPr algn="l"/>
            <a:r>
              <a:rPr sz="1200" b="0">
                <a:solidFill>
                  <a:srgbClr val="CCCCCC"/>
                </a:solidFill>
                <a:latin typeface="Calibri"/>
              </a:rPr>
              <a:t>Fall 2026 – Summer 2027</a:t>
            </a:r>
          </a:p>
        </p:txBody>
      </p:sp>
      <p:sp>
        <p:nvSpPr>
          <p:cNvPr id="14" name="TextBox 13"/>
          <p:cNvSpPr txBox="1"/>
          <p:nvPr/>
        </p:nvSpPr>
        <p:spPr>
          <a:xfrm>
            <a:off x="640080" y="2377440"/>
            <a:ext cx="3246120" cy="2377440"/>
          </a:xfrm>
          <a:prstGeom prst="rect">
            <a:avLst/>
          </a:prstGeom>
          <a:noFill/>
        </p:spPr>
        <p:txBody>
          <a:bodyPr wrap="square">
            <a:spAutoFit/>
          </a:bodyPr>
          <a:lstStyle/>
          <a:p>
            <a:pPr algn="l">
              <a:spcBef>
                <a:spcPts val="200"/>
              </a:spcBef>
              <a:spcAft>
                <a:spcPts val="1000"/>
              </a:spcAft>
            </a:pPr>
            <a:r>
              <a:rPr sz="1400" b="0">
                <a:solidFill>
                  <a:srgbClr val="1A1A1A"/>
                </a:solidFill>
                <a:latin typeface="Calibri"/>
              </a:rPr>
              <a:t>•  All-5 cohort inventory</a:t>
            </a:r>
          </a:p>
          <a:p>
            <a:pPr algn="l">
              <a:spcBef>
                <a:spcPts val="200"/>
              </a:spcBef>
              <a:spcAft>
                <a:spcPts val="1000"/>
              </a:spcAft>
            </a:pPr>
            <a:r>
              <a:rPr sz="1400" b="0">
                <a:solidFill>
                  <a:srgbClr val="1A1A1A"/>
                </a:solidFill>
                <a:latin typeface="Calibri"/>
              </a:rPr>
              <a:t>•  BRCA feature maps &amp; spacing</a:t>
            </a:r>
          </a:p>
          <a:p>
            <a:pPr algn="l">
              <a:spcBef>
                <a:spcPts val="200"/>
              </a:spcBef>
              <a:spcAft>
                <a:spcPts val="1000"/>
              </a:spcAft>
            </a:pPr>
            <a:r>
              <a:rPr sz="1400" b="0">
                <a:solidFill>
                  <a:srgbClr val="1A1A1A"/>
                </a:solidFill>
                <a:latin typeface="Calibri"/>
              </a:rPr>
              <a:t>•  Leakage-safe 4D ETL + Δt</a:t>
            </a:r>
          </a:p>
          <a:p>
            <a:pPr algn="l">
              <a:spcBef>
                <a:spcPts val="200"/>
              </a:spcBef>
              <a:spcAft>
                <a:spcPts val="1000"/>
              </a:spcAft>
            </a:pPr>
            <a:r>
              <a:rPr sz="1400" b="0">
                <a:solidFill>
                  <a:srgbClr val="1A1A1A"/>
                </a:solidFill>
                <a:latin typeface="Calibri"/>
              </a:rPr>
              <a:t>•  Compute stack &amp; Optuna hub</a:t>
            </a:r>
          </a:p>
        </p:txBody>
      </p:sp>
      <p:sp>
        <p:nvSpPr>
          <p:cNvPr id="15" name="TextBox 14"/>
          <p:cNvSpPr txBox="1"/>
          <p:nvPr/>
        </p:nvSpPr>
        <p:spPr>
          <a:xfrm>
            <a:off x="594360" y="5074920"/>
            <a:ext cx="3337560" cy="411480"/>
          </a:xfrm>
          <a:prstGeom prst="rect">
            <a:avLst/>
          </a:prstGeom>
          <a:noFill/>
        </p:spPr>
        <p:txBody>
          <a:bodyPr wrap="square"/>
          <a:lstStyle/>
          <a:p>
            <a:pPr algn="l"/>
            <a:r>
              <a:rPr sz="1100" b="1">
                <a:solidFill>
                  <a:srgbClr val="003366"/>
                </a:solidFill>
                <a:latin typeface="Calibri"/>
              </a:rPr>
              <a:t>Shared (A+B) · BRCA-first</a:t>
            </a:r>
          </a:p>
        </p:txBody>
      </p:sp>
      <p:sp>
        <p:nvSpPr>
          <p:cNvPr id="16" name="Rounded Rectangle 15"/>
          <p:cNvSpPr/>
          <p:nvPr/>
        </p:nvSpPr>
        <p:spPr>
          <a:xfrm>
            <a:off x="4297680" y="1234440"/>
            <a:ext cx="3703320" cy="4434840"/>
          </a:xfrm>
          <a:prstGeom prst="roundRect">
            <a:avLst>
              <a:gd name="adj" fmla="val 8000"/>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97680" y="1234440"/>
            <a:ext cx="3703320" cy="9601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1298448"/>
            <a:ext cx="3337560" cy="411480"/>
          </a:xfrm>
          <a:prstGeom prst="rect">
            <a:avLst/>
          </a:prstGeom>
          <a:noFill/>
        </p:spPr>
        <p:txBody>
          <a:bodyPr wrap="square"/>
          <a:lstStyle/>
          <a:p>
            <a:pPr algn="l"/>
            <a:r>
              <a:rPr sz="2200" b="1">
                <a:solidFill>
                  <a:srgbClr val="FFFFFF"/>
                </a:solidFill>
                <a:latin typeface="Calibri"/>
              </a:rPr>
              <a:t>Year 2</a:t>
            </a:r>
          </a:p>
        </p:txBody>
      </p:sp>
      <p:sp>
        <p:nvSpPr>
          <p:cNvPr id="19" name="TextBox 18"/>
          <p:cNvSpPr txBox="1"/>
          <p:nvPr/>
        </p:nvSpPr>
        <p:spPr>
          <a:xfrm>
            <a:off x="4480560" y="1737360"/>
            <a:ext cx="3337560" cy="320040"/>
          </a:xfrm>
          <a:prstGeom prst="rect">
            <a:avLst/>
          </a:prstGeom>
          <a:noFill/>
        </p:spPr>
        <p:txBody>
          <a:bodyPr wrap="square"/>
          <a:lstStyle/>
          <a:p>
            <a:pPr algn="l"/>
            <a:r>
              <a:rPr sz="1200" b="0">
                <a:solidFill>
                  <a:srgbClr val="CCCCCC"/>
                </a:solidFill>
                <a:latin typeface="Calibri"/>
              </a:rPr>
              <a:t>Fall 2027 – Summer 2028</a:t>
            </a:r>
          </a:p>
        </p:txBody>
      </p:sp>
      <p:sp>
        <p:nvSpPr>
          <p:cNvPr id="20" name="TextBox 19"/>
          <p:cNvSpPr txBox="1"/>
          <p:nvPr/>
        </p:nvSpPr>
        <p:spPr>
          <a:xfrm>
            <a:off x="4526280" y="2377440"/>
            <a:ext cx="3246120" cy="2377440"/>
          </a:xfrm>
          <a:prstGeom prst="rect">
            <a:avLst/>
          </a:prstGeom>
          <a:noFill/>
        </p:spPr>
        <p:txBody>
          <a:bodyPr wrap="square">
            <a:spAutoFit/>
          </a:bodyPr>
          <a:lstStyle/>
          <a:p>
            <a:pPr algn="l">
              <a:spcBef>
                <a:spcPts val="200"/>
              </a:spcBef>
              <a:spcAft>
                <a:spcPts val="1000"/>
              </a:spcAft>
            </a:pPr>
            <a:r>
              <a:rPr sz="1400" b="0">
                <a:solidFill>
                  <a:srgbClr val="1A1A1A"/>
                </a:solidFill>
                <a:latin typeface="Calibri"/>
              </a:rPr>
              <a:t>•  Spatial &amp; temporal modules</a:t>
            </a:r>
          </a:p>
          <a:p>
            <a:pPr algn="l">
              <a:spcBef>
                <a:spcPts val="200"/>
              </a:spcBef>
              <a:spcAft>
                <a:spcPts val="1000"/>
              </a:spcAft>
            </a:pPr>
            <a:r>
              <a:rPr sz="1400" b="0">
                <a:solidFill>
                  <a:srgbClr val="1A1A1A"/>
                </a:solidFill>
                <a:latin typeface="Calibri"/>
              </a:rPr>
              <a:t>•  Dual-track Optuna studies</a:t>
            </a:r>
          </a:p>
          <a:p>
            <a:pPr algn="l">
              <a:spcBef>
                <a:spcPts val="200"/>
              </a:spcBef>
              <a:spcAft>
                <a:spcPts val="1000"/>
              </a:spcAft>
            </a:pPr>
            <a:r>
              <a:rPr sz="1400" b="0">
                <a:solidFill>
                  <a:srgbClr val="1A1A1A"/>
                </a:solidFill>
                <a:latin typeface="Calibri"/>
              </a:rPr>
              <a:t>•  Holdout eval + ablations</a:t>
            </a:r>
          </a:p>
          <a:p>
            <a:pPr algn="l">
              <a:spcBef>
                <a:spcPts val="200"/>
              </a:spcBef>
              <a:spcAft>
                <a:spcPts val="1000"/>
              </a:spcAft>
            </a:pPr>
            <a:r>
              <a:rPr sz="1400" b="0">
                <a:solidFill>
                  <a:srgbClr val="1A1A1A"/>
                </a:solidFill>
                <a:latin typeface="Calibri"/>
              </a:rPr>
              <a:t>•  Classical baselines · scaling gate</a:t>
            </a:r>
          </a:p>
        </p:txBody>
      </p:sp>
      <p:sp>
        <p:nvSpPr>
          <p:cNvPr id="21" name="TextBox 20"/>
          <p:cNvSpPr txBox="1"/>
          <p:nvPr/>
        </p:nvSpPr>
        <p:spPr>
          <a:xfrm>
            <a:off x="4480560" y="5074920"/>
            <a:ext cx="3337560" cy="411480"/>
          </a:xfrm>
          <a:prstGeom prst="rect">
            <a:avLst/>
          </a:prstGeom>
          <a:noFill/>
        </p:spPr>
        <p:txBody>
          <a:bodyPr wrap="square"/>
          <a:lstStyle/>
          <a:p>
            <a:pPr algn="l"/>
            <a:r>
              <a:rPr sz="1100" b="1">
                <a:solidFill>
                  <a:srgbClr val="CC0000"/>
                </a:solidFill>
                <a:latin typeface="Calibri"/>
              </a:rPr>
              <a:t>Track A vs B · BRCA</a:t>
            </a:r>
          </a:p>
        </p:txBody>
      </p:sp>
      <p:sp>
        <p:nvSpPr>
          <p:cNvPr id="22" name="Rounded Rectangle 21"/>
          <p:cNvSpPr/>
          <p:nvPr/>
        </p:nvSpPr>
        <p:spPr>
          <a:xfrm>
            <a:off x="8183879" y="1234440"/>
            <a:ext cx="3703320" cy="4434840"/>
          </a:xfrm>
          <a:prstGeom prst="roundRect">
            <a:avLst>
              <a:gd name="adj" fmla="val 8000"/>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83879" y="1234440"/>
            <a:ext cx="3703320" cy="9601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66759" y="1298448"/>
            <a:ext cx="3337560" cy="411480"/>
          </a:xfrm>
          <a:prstGeom prst="rect">
            <a:avLst/>
          </a:prstGeom>
          <a:noFill/>
        </p:spPr>
        <p:txBody>
          <a:bodyPr wrap="square"/>
          <a:lstStyle/>
          <a:p>
            <a:pPr algn="l"/>
            <a:r>
              <a:rPr sz="2200" b="1">
                <a:solidFill>
                  <a:srgbClr val="FFFFFF"/>
                </a:solidFill>
                <a:latin typeface="Calibri"/>
              </a:rPr>
              <a:t>Year 3</a:t>
            </a:r>
          </a:p>
        </p:txBody>
      </p:sp>
      <p:sp>
        <p:nvSpPr>
          <p:cNvPr id="25" name="TextBox 24"/>
          <p:cNvSpPr txBox="1"/>
          <p:nvPr/>
        </p:nvSpPr>
        <p:spPr>
          <a:xfrm>
            <a:off x="8366759" y="1737360"/>
            <a:ext cx="3337560" cy="320040"/>
          </a:xfrm>
          <a:prstGeom prst="rect">
            <a:avLst/>
          </a:prstGeom>
          <a:noFill/>
        </p:spPr>
        <p:txBody>
          <a:bodyPr wrap="square"/>
          <a:lstStyle/>
          <a:p>
            <a:pPr algn="l"/>
            <a:r>
              <a:rPr sz="1200" b="0">
                <a:solidFill>
                  <a:srgbClr val="CCCCCC"/>
                </a:solidFill>
                <a:latin typeface="Calibri"/>
              </a:rPr>
              <a:t>Fall 2028 – Summer 2029</a:t>
            </a:r>
          </a:p>
        </p:txBody>
      </p:sp>
      <p:sp>
        <p:nvSpPr>
          <p:cNvPr id="26" name="TextBox 25"/>
          <p:cNvSpPr txBox="1"/>
          <p:nvPr/>
        </p:nvSpPr>
        <p:spPr>
          <a:xfrm>
            <a:off x="8412479" y="2377440"/>
            <a:ext cx="3246120" cy="2377440"/>
          </a:xfrm>
          <a:prstGeom prst="rect">
            <a:avLst/>
          </a:prstGeom>
          <a:noFill/>
        </p:spPr>
        <p:txBody>
          <a:bodyPr wrap="square">
            <a:spAutoFit/>
          </a:bodyPr>
          <a:lstStyle/>
          <a:p>
            <a:pPr algn="l">
              <a:spcBef>
                <a:spcPts val="200"/>
              </a:spcBef>
              <a:spcAft>
                <a:spcPts val="1000"/>
              </a:spcAft>
            </a:pPr>
            <a:r>
              <a:rPr sz="1400" b="0">
                <a:solidFill>
                  <a:srgbClr val="1A1A1A"/>
                </a:solidFill>
                <a:latin typeface="Calibri"/>
              </a:rPr>
              <a:t>•  Attribution &amp; driver maps</a:t>
            </a:r>
          </a:p>
          <a:p>
            <a:pPr algn="l">
              <a:spcBef>
                <a:spcPts val="200"/>
              </a:spcBef>
              <a:spcAft>
                <a:spcPts val="1000"/>
              </a:spcAft>
            </a:pPr>
            <a:r>
              <a:rPr sz="1400" b="0">
                <a:solidFill>
                  <a:srgbClr val="1A1A1A"/>
                </a:solidFill>
                <a:latin typeface="Calibri"/>
              </a:rPr>
              <a:t>•  Trajectory dashboard</a:t>
            </a:r>
          </a:p>
          <a:p>
            <a:pPr algn="l">
              <a:spcBef>
                <a:spcPts val="200"/>
              </a:spcBef>
              <a:spcAft>
                <a:spcPts val="1000"/>
              </a:spcAft>
            </a:pPr>
            <a:r>
              <a:rPr sz="1400" b="0">
                <a:solidFill>
                  <a:srgbClr val="1A1A1A"/>
                </a:solidFill>
                <a:latin typeface="Calibri"/>
              </a:rPr>
              <a:t>•  Taxonomy / tempo compare</a:t>
            </a:r>
          </a:p>
          <a:p>
            <a:pPr algn="l">
              <a:spcBef>
                <a:spcPts val="200"/>
              </a:spcBef>
              <a:spcAft>
                <a:spcPts val="1000"/>
              </a:spcAft>
            </a:pPr>
            <a:r>
              <a:rPr sz="1400" b="0">
                <a:solidFill>
                  <a:srgbClr val="1A1A1A"/>
                </a:solidFill>
                <a:latin typeface="Calibri"/>
              </a:rPr>
              <a:t>•  Dissertation + OSS release</a:t>
            </a:r>
          </a:p>
        </p:txBody>
      </p:sp>
      <p:sp>
        <p:nvSpPr>
          <p:cNvPr id="27" name="TextBox 26"/>
          <p:cNvSpPr txBox="1"/>
          <p:nvPr/>
        </p:nvSpPr>
        <p:spPr>
          <a:xfrm>
            <a:off x="8366759" y="5074920"/>
            <a:ext cx="3337560" cy="411480"/>
          </a:xfrm>
          <a:prstGeom prst="rect">
            <a:avLst/>
          </a:prstGeom>
          <a:noFill/>
        </p:spPr>
        <p:txBody>
          <a:bodyPr wrap="square"/>
          <a:lstStyle/>
          <a:p>
            <a:pPr algn="l"/>
            <a:r>
              <a:rPr sz="1100" b="1">
                <a:solidFill>
                  <a:srgbClr val="003366"/>
                </a:solidFill>
                <a:latin typeface="Calibri"/>
              </a:rPr>
              <a:t>BRCA → Other 4 / All 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7315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41832"/>
            <a:ext cx="109728" cy="59161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73952"/>
            <a:ext cx="12191695"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64592"/>
            <a:ext cx="11430000" cy="502920"/>
          </a:xfrm>
          <a:prstGeom prst="rect">
            <a:avLst/>
          </a:prstGeom>
          <a:noFill/>
        </p:spPr>
        <p:txBody>
          <a:bodyPr wrap="square"/>
          <a:lstStyle/>
          <a:p>
            <a:pPr algn="l"/>
            <a:r>
              <a:rPr sz="2600" b="1">
                <a:solidFill>
                  <a:srgbClr val="FFFFFF"/>
                </a:solidFill>
                <a:latin typeface="Calibri"/>
              </a:rPr>
              <a:t>Goals &amp; Deliverables</a:t>
            </a:r>
          </a:p>
        </p:txBody>
      </p:sp>
      <p:sp>
        <p:nvSpPr>
          <p:cNvPr id="7" name="TextBox 6"/>
          <p:cNvSpPr txBox="1"/>
          <p:nvPr/>
        </p:nvSpPr>
        <p:spPr>
          <a:xfrm>
            <a:off x="320040" y="6510528"/>
            <a:ext cx="7772400" cy="292608"/>
          </a:xfrm>
          <a:prstGeom prst="rect">
            <a:avLst/>
          </a:prstGeom>
          <a:noFill/>
        </p:spPr>
        <p:txBody>
          <a:bodyPr wrap="square"/>
          <a:lstStyle/>
          <a:p>
            <a:pPr algn="l"/>
            <a:r>
              <a:rPr sz="1000" b="0">
                <a:solidFill>
                  <a:srgbClr val="FFFFFF"/>
                </a:solidFill>
                <a:latin typeface="Calibri"/>
              </a:rPr>
              <a:t>Adam Cankaya  ·  Florida Atlantic University  ·  College of Engineering and Computer Science</a:t>
            </a:r>
          </a:p>
        </p:txBody>
      </p:sp>
      <p:sp>
        <p:nvSpPr>
          <p:cNvPr id="8" name="TextBox 7"/>
          <p:cNvSpPr txBox="1"/>
          <p:nvPr/>
        </p:nvSpPr>
        <p:spPr>
          <a:xfrm>
            <a:off x="8412480" y="6510528"/>
            <a:ext cx="3474720" cy="292608"/>
          </a:xfrm>
          <a:prstGeom prst="rect">
            <a:avLst/>
          </a:prstGeom>
          <a:noFill/>
        </p:spPr>
        <p:txBody>
          <a:bodyPr wrap="square"/>
          <a:lstStyle/>
          <a:p>
            <a:pPr algn="r"/>
            <a:r>
              <a:rPr sz="1000" b="0">
                <a:solidFill>
                  <a:srgbClr val="CCCCCC"/>
                </a:solidFill>
                <a:latin typeface="Calibri"/>
              </a:rPr>
              <a:t>acankaya2017@fau.edu</a:t>
            </a:r>
          </a:p>
        </p:txBody>
      </p:sp>
      <p:sp>
        <p:nvSpPr>
          <p:cNvPr id="9" name="Rectangle 8"/>
          <p:cNvSpPr/>
          <p:nvPr/>
        </p:nvSpPr>
        <p:spPr>
          <a:xfrm>
            <a:off x="457200" y="1188720"/>
            <a:ext cx="164592" cy="6858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1188720"/>
            <a:ext cx="11064240" cy="685800"/>
          </a:xfrm>
          <a:prstGeom prst="roundRect">
            <a:avLst>
              <a:gd name="adj" fmla="val 8000"/>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261872"/>
            <a:ext cx="10607040" cy="292608"/>
          </a:xfrm>
          <a:prstGeom prst="rect">
            <a:avLst/>
          </a:prstGeom>
          <a:noFill/>
        </p:spPr>
        <p:txBody>
          <a:bodyPr wrap="square"/>
          <a:lstStyle/>
          <a:p>
            <a:pPr algn="l"/>
            <a:r>
              <a:rPr sz="1600" b="1">
                <a:solidFill>
                  <a:srgbClr val="003366"/>
                </a:solidFill>
                <a:latin typeface="Calibri"/>
              </a:rPr>
              <a:t>Spatio-temporal NAS</a:t>
            </a:r>
          </a:p>
        </p:txBody>
      </p:sp>
      <p:sp>
        <p:nvSpPr>
          <p:cNvPr id="12" name="TextBox 11"/>
          <p:cNvSpPr txBox="1"/>
          <p:nvPr/>
        </p:nvSpPr>
        <p:spPr>
          <a:xfrm>
            <a:off x="868680" y="1536192"/>
            <a:ext cx="10607040" cy="274320"/>
          </a:xfrm>
          <a:prstGeom prst="rect">
            <a:avLst/>
          </a:prstGeom>
          <a:noFill/>
        </p:spPr>
        <p:txBody>
          <a:bodyPr wrap="square"/>
          <a:lstStyle/>
          <a:p>
            <a:pPr algn="l"/>
            <a:r>
              <a:rPr sz="1300" b="0">
                <a:solidFill>
                  <a:srgbClr val="4A5566"/>
                </a:solidFill>
                <a:latin typeface="Calibri"/>
              </a:rPr>
              <a:t>Optuna-driven search over spatial and temporal PyTorch modules</a:t>
            </a:r>
          </a:p>
        </p:txBody>
      </p:sp>
      <p:sp>
        <p:nvSpPr>
          <p:cNvPr id="13" name="Rectangle 12"/>
          <p:cNvSpPr/>
          <p:nvPr/>
        </p:nvSpPr>
        <p:spPr>
          <a:xfrm>
            <a:off x="457200" y="2011680"/>
            <a:ext cx="164592" cy="6858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0080" y="2011680"/>
            <a:ext cx="11064240" cy="685800"/>
          </a:xfrm>
          <a:prstGeom prst="roundRect">
            <a:avLst>
              <a:gd name="adj" fmla="val 8000"/>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084832"/>
            <a:ext cx="10607040" cy="292608"/>
          </a:xfrm>
          <a:prstGeom prst="rect">
            <a:avLst/>
          </a:prstGeom>
          <a:noFill/>
        </p:spPr>
        <p:txBody>
          <a:bodyPr wrap="square"/>
          <a:lstStyle/>
          <a:p>
            <a:pPr algn="l"/>
            <a:r>
              <a:rPr sz="1600" b="1">
                <a:solidFill>
                  <a:srgbClr val="003366"/>
                </a:solidFill>
                <a:latin typeface="Calibri"/>
              </a:rPr>
              <a:t>Causal evaluation</a:t>
            </a:r>
          </a:p>
        </p:txBody>
      </p:sp>
      <p:sp>
        <p:nvSpPr>
          <p:cNvPr id="16" name="TextBox 15"/>
          <p:cNvSpPr txBox="1"/>
          <p:nvPr/>
        </p:nvSpPr>
        <p:spPr>
          <a:xfrm>
            <a:off x="868680" y="2359152"/>
            <a:ext cx="10607040" cy="274320"/>
          </a:xfrm>
          <a:prstGeom prst="rect">
            <a:avLst/>
          </a:prstGeom>
          <a:noFill/>
        </p:spPr>
        <p:txBody>
          <a:bodyPr wrap="square"/>
          <a:lstStyle/>
          <a:p>
            <a:pPr algn="l"/>
            <a:r>
              <a:rPr sz="1300" b="0">
                <a:solidFill>
                  <a:srgbClr val="4A5566"/>
                </a:solidFill>
                <a:latin typeface="Calibri"/>
              </a:rPr>
              <a:t>Patient holdout, causal CV, irregular Δt embeddings</a:t>
            </a:r>
          </a:p>
        </p:txBody>
      </p:sp>
      <p:sp>
        <p:nvSpPr>
          <p:cNvPr id="17" name="Rectangle 16"/>
          <p:cNvSpPr/>
          <p:nvPr/>
        </p:nvSpPr>
        <p:spPr>
          <a:xfrm>
            <a:off x="457200" y="2834640"/>
            <a:ext cx="164592" cy="6858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0080" y="2834640"/>
            <a:ext cx="11064240" cy="685800"/>
          </a:xfrm>
          <a:prstGeom prst="roundRect">
            <a:avLst>
              <a:gd name="adj" fmla="val 8000"/>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2907792"/>
            <a:ext cx="10607040" cy="292608"/>
          </a:xfrm>
          <a:prstGeom prst="rect">
            <a:avLst/>
          </a:prstGeom>
          <a:noFill/>
        </p:spPr>
        <p:txBody>
          <a:bodyPr wrap="square"/>
          <a:lstStyle/>
          <a:p>
            <a:pPr algn="l"/>
            <a:r>
              <a:rPr sz="1600" b="1">
                <a:solidFill>
                  <a:srgbClr val="003366"/>
                </a:solidFill>
                <a:latin typeface="Calibri"/>
              </a:rPr>
              <a:t>Comparative A/B evidence</a:t>
            </a:r>
          </a:p>
        </p:txBody>
      </p:sp>
      <p:sp>
        <p:nvSpPr>
          <p:cNvPr id="20" name="TextBox 19"/>
          <p:cNvSpPr txBox="1"/>
          <p:nvPr/>
        </p:nvSpPr>
        <p:spPr>
          <a:xfrm>
            <a:off x="868680" y="3182112"/>
            <a:ext cx="10607040" cy="274320"/>
          </a:xfrm>
          <a:prstGeom prst="rect">
            <a:avLst/>
          </a:prstGeom>
          <a:noFill/>
        </p:spPr>
        <p:txBody>
          <a:bodyPr wrap="square"/>
          <a:lstStyle/>
          <a:p>
            <a:pPr algn="l"/>
            <a:r>
              <a:rPr sz="1300" b="0">
                <a:solidFill>
                  <a:srgbClr val="4A5566"/>
                </a:solidFill>
                <a:latin typeface="Calibri"/>
              </a:rPr>
              <a:t>BRCA Track A vs B; Other 4 only if gate passes</a:t>
            </a:r>
          </a:p>
        </p:txBody>
      </p:sp>
      <p:sp>
        <p:nvSpPr>
          <p:cNvPr id="21" name="Rectangle 20"/>
          <p:cNvSpPr/>
          <p:nvPr/>
        </p:nvSpPr>
        <p:spPr>
          <a:xfrm>
            <a:off x="457200" y="3657600"/>
            <a:ext cx="164592" cy="6858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0080" y="3657600"/>
            <a:ext cx="11064240" cy="685800"/>
          </a:xfrm>
          <a:prstGeom prst="roundRect">
            <a:avLst>
              <a:gd name="adj" fmla="val 8000"/>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3730752"/>
            <a:ext cx="10607040" cy="292608"/>
          </a:xfrm>
          <a:prstGeom prst="rect">
            <a:avLst/>
          </a:prstGeom>
          <a:noFill/>
        </p:spPr>
        <p:txBody>
          <a:bodyPr wrap="square"/>
          <a:lstStyle/>
          <a:p>
            <a:pPr algn="l"/>
            <a:r>
              <a:rPr sz="1600" b="1">
                <a:solidFill>
                  <a:srgbClr val="003366"/>
                </a:solidFill>
                <a:latin typeface="Calibri"/>
              </a:rPr>
              <a:t>Interpretability</a:t>
            </a:r>
          </a:p>
        </p:txBody>
      </p:sp>
      <p:sp>
        <p:nvSpPr>
          <p:cNvPr id="24" name="TextBox 23"/>
          <p:cNvSpPr txBox="1"/>
          <p:nvPr/>
        </p:nvSpPr>
        <p:spPr>
          <a:xfrm>
            <a:off x="868680" y="4005072"/>
            <a:ext cx="10607040" cy="274320"/>
          </a:xfrm>
          <a:prstGeom prst="rect">
            <a:avLst/>
          </a:prstGeom>
          <a:noFill/>
        </p:spPr>
        <p:txBody>
          <a:bodyPr wrap="square"/>
          <a:lstStyle/>
          <a:p>
            <a:pPr algn="l"/>
            <a:r>
              <a:rPr sz="1300" b="0">
                <a:solidFill>
                  <a:srgbClr val="4A5566"/>
                </a:solidFill>
                <a:latin typeface="Calibri"/>
              </a:rPr>
              <a:t>CpG × time attribution maps and trajectory UI</a:t>
            </a:r>
          </a:p>
        </p:txBody>
      </p:sp>
      <p:sp>
        <p:nvSpPr>
          <p:cNvPr id="25" name="Rectangle 24"/>
          <p:cNvSpPr/>
          <p:nvPr/>
        </p:nvSpPr>
        <p:spPr>
          <a:xfrm>
            <a:off x="457200" y="4480560"/>
            <a:ext cx="164592" cy="6858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0080" y="4480560"/>
            <a:ext cx="11064240" cy="685800"/>
          </a:xfrm>
          <a:prstGeom prst="roundRect">
            <a:avLst>
              <a:gd name="adj" fmla="val 8000"/>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4553712"/>
            <a:ext cx="10607040" cy="292608"/>
          </a:xfrm>
          <a:prstGeom prst="rect">
            <a:avLst/>
          </a:prstGeom>
          <a:noFill/>
        </p:spPr>
        <p:txBody>
          <a:bodyPr wrap="square"/>
          <a:lstStyle/>
          <a:p>
            <a:pPr algn="l"/>
            <a:r>
              <a:rPr sz="1600" b="1">
                <a:solidFill>
                  <a:srgbClr val="003366"/>
                </a:solidFill>
                <a:latin typeface="Calibri"/>
              </a:rPr>
              <a:t>Open science</a:t>
            </a:r>
          </a:p>
        </p:txBody>
      </p:sp>
      <p:sp>
        <p:nvSpPr>
          <p:cNvPr id="28" name="TextBox 27"/>
          <p:cNvSpPr txBox="1"/>
          <p:nvPr/>
        </p:nvSpPr>
        <p:spPr>
          <a:xfrm>
            <a:off x="868680" y="4828032"/>
            <a:ext cx="10607040" cy="274320"/>
          </a:xfrm>
          <a:prstGeom prst="rect">
            <a:avLst/>
          </a:prstGeom>
          <a:noFill/>
        </p:spPr>
        <p:txBody>
          <a:bodyPr wrap="square"/>
          <a:lstStyle/>
          <a:p>
            <a:pPr algn="l"/>
            <a:r>
              <a:rPr sz="1300" b="0">
                <a:solidFill>
                  <a:srgbClr val="4A5566"/>
                </a:solidFill>
                <a:latin typeface="Calibri"/>
              </a:rPr>
              <a:t>Tagged Python OSS release plus dissertation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7315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41832"/>
            <a:ext cx="109728" cy="59161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73952"/>
            <a:ext cx="12191695"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64592"/>
            <a:ext cx="11430000" cy="502920"/>
          </a:xfrm>
          <a:prstGeom prst="rect">
            <a:avLst/>
          </a:prstGeom>
          <a:noFill/>
        </p:spPr>
        <p:txBody>
          <a:bodyPr wrap="square"/>
          <a:lstStyle/>
          <a:p>
            <a:pPr algn="l"/>
            <a:r>
              <a:rPr sz="2600" b="1">
                <a:solidFill>
                  <a:srgbClr val="FFFFFF"/>
                </a:solidFill>
                <a:latin typeface="Calibri"/>
              </a:rPr>
              <a:t>Current Status &amp; Near-Term Next Steps</a:t>
            </a:r>
          </a:p>
        </p:txBody>
      </p:sp>
      <p:sp>
        <p:nvSpPr>
          <p:cNvPr id="7" name="TextBox 6"/>
          <p:cNvSpPr txBox="1"/>
          <p:nvPr/>
        </p:nvSpPr>
        <p:spPr>
          <a:xfrm>
            <a:off x="320040" y="6510528"/>
            <a:ext cx="7772400" cy="292608"/>
          </a:xfrm>
          <a:prstGeom prst="rect">
            <a:avLst/>
          </a:prstGeom>
          <a:noFill/>
        </p:spPr>
        <p:txBody>
          <a:bodyPr wrap="square"/>
          <a:lstStyle/>
          <a:p>
            <a:pPr algn="l"/>
            <a:r>
              <a:rPr sz="1000" b="0">
                <a:solidFill>
                  <a:srgbClr val="FFFFFF"/>
                </a:solidFill>
                <a:latin typeface="Calibri"/>
              </a:rPr>
              <a:t>Adam Cankaya  ·  Florida Atlantic University  ·  College of Engineering and Computer Science</a:t>
            </a:r>
          </a:p>
        </p:txBody>
      </p:sp>
      <p:sp>
        <p:nvSpPr>
          <p:cNvPr id="8" name="TextBox 7"/>
          <p:cNvSpPr txBox="1"/>
          <p:nvPr/>
        </p:nvSpPr>
        <p:spPr>
          <a:xfrm>
            <a:off x="8412480" y="6510528"/>
            <a:ext cx="3474720" cy="292608"/>
          </a:xfrm>
          <a:prstGeom prst="rect">
            <a:avLst/>
          </a:prstGeom>
          <a:noFill/>
        </p:spPr>
        <p:txBody>
          <a:bodyPr wrap="square"/>
          <a:lstStyle/>
          <a:p>
            <a:pPr algn="r"/>
            <a:r>
              <a:rPr sz="1000" b="0">
                <a:solidFill>
                  <a:srgbClr val="CCCCCC"/>
                </a:solidFill>
                <a:latin typeface="Calibri"/>
              </a:rPr>
              <a:t>acankaya2017@fau.edu</a:t>
            </a:r>
          </a:p>
        </p:txBody>
      </p:sp>
      <p:sp>
        <p:nvSpPr>
          <p:cNvPr id="9" name="Rounded Rectangle 8"/>
          <p:cNvSpPr/>
          <p:nvPr/>
        </p:nvSpPr>
        <p:spPr>
          <a:xfrm>
            <a:off x="457200" y="1234440"/>
            <a:ext cx="5486400" cy="4297680"/>
          </a:xfrm>
          <a:prstGeom prst="roundRect">
            <a:avLst>
              <a:gd name="adj" fmla="val 8000"/>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234440"/>
            <a:ext cx="5486400" cy="5486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25880"/>
            <a:ext cx="5120640" cy="365760"/>
          </a:xfrm>
          <a:prstGeom prst="rect">
            <a:avLst/>
          </a:prstGeom>
          <a:noFill/>
        </p:spPr>
        <p:txBody>
          <a:bodyPr wrap="square"/>
          <a:lstStyle/>
          <a:p>
            <a:pPr algn="l"/>
            <a:r>
              <a:rPr sz="1800" b="1">
                <a:solidFill>
                  <a:srgbClr val="FFFFFF"/>
                </a:solidFill>
                <a:latin typeface="Calibri"/>
              </a:rPr>
              <a:t>Completed / in place</a:t>
            </a:r>
          </a:p>
        </p:txBody>
      </p:sp>
      <p:sp>
        <p:nvSpPr>
          <p:cNvPr id="12" name="TextBox 11"/>
          <p:cNvSpPr txBox="1"/>
          <p:nvPr/>
        </p:nvSpPr>
        <p:spPr>
          <a:xfrm>
            <a:off x="685800" y="2011680"/>
            <a:ext cx="5029200" cy="3200400"/>
          </a:xfrm>
          <a:prstGeom prst="rect">
            <a:avLst/>
          </a:prstGeom>
          <a:noFill/>
        </p:spPr>
        <p:txBody>
          <a:bodyPr wrap="square">
            <a:spAutoFit/>
          </a:bodyPr>
          <a:lstStyle/>
          <a:p>
            <a:pPr algn="l">
              <a:spcBef>
                <a:spcPts val="200"/>
              </a:spcBef>
              <a:spcAft>
                <a:spcPts val="1000"/>
              </a:spcAft>
            </a:pPr>
            <a:r>
              <a:rPr sz="1500" b="0">
                <a:solidFill>
                  <a:srgbClr val="1A1A1A"/>
                </a:solidFill>
                <a:latin typeface="Calibri"/>
              </a:rPr>
              <a:t>•  Master plan + 24 GitHub-synced roadmap issues</a:t>
            </a:r>
          </a:p>
          <a:p>
            <a:pPr algn="l">
              <a:spcBef>
                <a:spcPts val="200"/>
              </a:spcBef>
              <a:spcAft>
                <a:spcPts val="1000"/>
              </a:spcAft>
            </a:pPr>
            <a:r>
              <a:rPr sz="1500" b="0">
                <a:solidFill>
                  <a:srgbClr val="1A1A1A"/>
                </a:solidFill>
                <a:latin typeface="Calibri"/>
              </a:rPr>
              <a:t>•  Live timeline dashboard and wiki</a:t>
            </a:r>
          </a:p>
          <a:p>
            <a:pPr algn="l">
              <a:spcBef>
                <a:spcPts val="200"/>
              </a:spcBef>
              <a:spcAft>
                <a:spcPts val="1000"/>
              </a:spcAft>
            </a:pPr>
            <a:r>
              <a:rPr sz="1500" b="0">
                <a:solidFill>
                  <a:srgbClr val="1A1A1A"/>
                </a:solidFill>
                <a:latin typeface="Calibri"/>
              </a:rPr>
              <a:t>•  Multi-disease cohort inventory drafted</a:t>
            </a:r>
          </a:p>
          <a:p>
            <a:pPr algn="l">
              <a:spcBef>
                <a:spcPts val="200"/>
              </a:spcBef>
              <a:spcAft>
                <a:spcPts val="1000"/>
              </a:spcAft>
            </a:pPr>
            <a:r>
              <a:rPr sz="1500" b="0">
                <a:solidFill>
                  <a:srgbClr val="1A1A1A"/>
                </a:solidFill>
                <a:latin typeface="Calibri"/>
              </a:rPr>
              <a:t>•  Code scaffolds: BRCA dataset, static MTL baseline, disease registry</a:t>
            </a:r>
          </a:p>
        </p:txBody>
      </p:sp>
      <p:sp>
        <p:nvSpPr>
          <p:cNvPr id="13" name="Rounded Rectangle 12"/>
          <p:cNvSpPr/>
          <p:nvPr/>
        </p:nvSpPr>
        <p:spPr>
          <a:xfrm>
            <a:off x="6263640" y="1234440"/>
            <a:ext cx="5486400" cy="4297680"/>
          </a:xfrm>
          <a:prstGeom prst="roundRect">
            <a:avLst>
              <a:gd name="adj" fmla="val 8000"/>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234440"/>
            <a:ext cx="5486400" cy="5486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325880"/>
            <a:ext cx="5120640" cy="365760"/>
          </a:xfrm>
          <a:prstGeom prst="rect">
            <a:avLst/>
          </a:prstGeom>
          <a:noFill/>
        </p:spPr>
        <p:txBody>
          <a:bodyPr wrap="square"/>
          <a:lstStyle/>
          <a:p>
            <a:pPr algn="l"/>
            <a:r>
              <a:rPr sz="1800" b="1">
                <a:solidFill>
                  <a:srgbClr val="FFFFFF"/>
                </a:solidFill>
                <a:latin typeface="Calibri"/>
              </a:rPr>
              <a:t>Immediate next steps</a:t>
            </a:r>
          </a:p>
        </p:txBody>
      </p:sp>
      <p:sp>
        <p:nvSpPr>
          <p:cNvPr id="16" name="TextBox 15"/>
          <p:cNvSpPr txBox="1"/>
          <p:nvPr/>
        </p:nvSpPr>
        <p:spPr>
          <a:xfrm>
            <a:off x="6492240" y="2011680"/>
            <a:ext cx="5029200" cy="3200400"/>
          </a:xfrm>
          <a:prstGeom prst="rect">
            <a:avLst/>
          </a:prstGeom>
          <a:noFill/>
        </p:spPr>
        <p:txBody>
          <a:bodyPr wrap="square">
            <a:spAutoFit/>
          </a:bodyPr>
          <a:lstStyle/>
          <a:p>
            <a:pPr algn="l">
              <a:spcBef>
                <a:spcPts val="200"/>
              </a:spcBef>
              <a:spcAft>
                <a:spcPts val="1000"/>
              </a:spcAft>
            </a:pPr>
            <a:r>
              <a:rPr sz="1500" b="0">
                <a:solidFill>
                  <a:srgbClr val="1A1A1A"/>
                </a:solidFill>
                <a:latin typeface="Calibri"/>
              </a:rPr>
              <a:t>•  Lock primary cohorts and data-access accounts</a:t>
            </a:r>
          </a:p>
          <a:p>
            <a:pPr algn="l">
              <a:spcBef>
                <a:spcPts val="200"/>
              </a:spcBef>
              <a:spcAft>
                <a:spcPts val="1000"/>
              </a:spcAft>
            </a:pPr>
            <a:r>
              <a:rPr sz="1500" b="0">
                <a:solidFill>
                  <a:srgbClr val="1A1A1A"/>
                </a:solidFill>
                <a:latin typeface="Calibri"/>
              </a:rPr>
              <a:t>•  Finalize BRCA longitudinal matching strategy</a:t>
            </a:r>
          </a:p>
          <a:p>
            <a:pPr algn="l">
              <a:spcBef>
                <a:spcPts val="200"/>
              </a:spcBef>
              <a:spcAft>
                <a:spcPts val="1000"/>
              </a:spcAft>
            </a:pPr>
            <a:r>
              <a:rPr sz="1500" b="0">
                <a:solidFill>
                  <a:srgbClr val="1A1A1A"/>
                </a:solidFill>
                <a:latin typeface="Calibri"/>
              </a:rPr>
              <a:t>•  Build BRCA feature maps and genomic spacing</a:t>
            </a:r>
          </a:p>
          <a:p>
            <a:pPr algn="l">
              <a:spcBef>
                <a:spcPts val="200"/>
              </a:spcBef>
              <a:spcAft>
                <a:spcPts val="1000"/>
              </a:spcAft>
            </a:pPr>
            <a:r>
              <a:rPr sz="1500" b="0">
                <a:solidFill>
                  <a:srgbClr val="1A1A1A"/>
                </a:solidFill>
                <a:latin typeface="Calibri"/>
              </a:rPr>
              <a:t>•  Stand up leakage-safe ETL and Δt embeddings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7315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41832"/>
            <a:ext cx="109728" cy="59161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73952"/>
            <a:ext cx="12191695"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64592"/>
            <a:ext cx="11430000" cy="502920"/>
          </a:xfrm>
          <a:prstGeom prst="rect">
            <a:avLst/>
          </a:prstGeom>
          <a:noFill/>
        </p:spPr>
        <p:txBody>
          <a:bodyPr wrap="square"/>
          <a:lstStyle/>
          <a:p>
            <a:pPr algn="l"/>
            <a:r>
              <a:rPr sz="2600" b="1">
                <a:solidFill>
                  <a:srgbClr val="FFFFFF"/>
                </a:solidFill>
                <a:latin typeface="Calibri"/>
              </a:rPr>
              <a:t>Asks for the Committee</a:t>
            </a:r>
          </a:p>
        </p:txBody>
      </p:sp>
      <p:sp>
        <p:nvSpPr>
          <p:cNvPr id="7" name="TextBox 6"/>
          <p:cNvSpPr txBox="1"/>
          <p:nvPr/>
        </p:nvSpPr>
        <p:spPr>
          <a:xfrm>
            <a:off x="320040" y="530352"/>
            <a:ext cx="11430000" cy="292608"/>
          </a:xfrm>
          <a:prstGeom prst="rect">
            <a:avLst/>
          </a:prstGeom>
          <a:noFill/>
        </p:spPr>
        <p:txBody>
          <a:bodyPr wrap="square"/>
          <a:lstStyle/>
          <a:p>
            <a:pPr algn="l"/>
            <a:r>
              <a:rPr sz="1200" b="0">
                <a:solidFill>
                  <a:srgbClr val="CCCCCC"/>
                </a:solidFill>
                <a:latin typeface="Calibri"/>
              </a:rPr>
              <a:t>Feedback that will shape Year-1 priorities</a:t>
            </a:r>
          </a:p>
        </p:txBody>
      </p:sp>
      <p:sp>
        <p:nvSpPr>
          <p:cNvPr id="8" name="TextBox 7"/>
          <p:cNvSpPr txBox="1"/>
          <p:nvPr/>
        </p:nvSpPr>
        <p:spPr>
          <a:xfrm>
            <a:off x="320040" y="6510528"/>
            <a:ext cx="7772400" cy="292608"/>
          </a:xfrm>
          <a:prstGeom prst="rect">
            <a:avLst/>
          </a:prstGeom>
          <a:noFill/>
        </p:spPr>
        <p:txBody>
          <a:bodyPr wrap="square"/>
          <a:lstStyle/>
          <a:p>
            <a:pPr algn="l"/>
            <a:r>
              <a:rPr sz="1000" b="0">
                <a:solidFill>
                  <a:srgbClr val="FFFFFF"/>
                </a:solidFill>
                <a:latin typeface="Calibri"/>
              </a:rPr>
              <a:t>Adam Cankaya  ·  Florida Atlantic University  ·  College of Engineering and Computer Science</a:t>
            </a:r>
          </a:p>
        </p:txBody>
      </p:sp>
      <p:sp>
        <p:nvSpPr>
          <p:cNvPr id="9" name="TextBox 8"/>
          <p:cNvSpPr txBox="1"/>
          <p:nvPr/>
        </p:nvSpPr>
        <p:spPr>
          <a:xfrm>
            <a:off x="8412480" y="6510528"/>
            <a:ext cx="3474720" cy="292608"/>
          </a:xfrm>
          <a:prstGeom prst="rect">
            <a:avLst/>
          </a:prstGeom>
          <a:noFill/>
        </p:spPr>
        <p:txBody>
          <a:bodyPr wrap="square"/>
          <a:lstStyle/>
          <a:p>
            <a:pPr algn="r"/>
            <a:r>
              <a:rPr sz="1000" b="0">
                <a:solidFill>
                  <a:srgbClr val="CCCCCC"/>
                </a:solidFill>
                <a:latin typeface="Calibri"/>
              </a:rPr>
              <a:t>acankaya2017@fau.edu</a:t>
            </a:r>
          </a:p>
        </p:txBody>
      </p:sp>
      <p:sp>
        <p:nvSpPr>
          <p:cNvPr id="10" name="Oval 9"/>
          <p:cNvSpPr/>
          <p:nvPr/>
        </p:nvSpPr>
        <p:spPr>
          <a:xfrm>
            <a:off x="502920" y="1325880"/>
            <a:ext cx="502920" cy="50292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389888"/>
            <a:ext cx="502920" cy="365760"/>
          </a:xfrm>
          <a:prstGeom prst="rect">
            <a:avLst/>
          </a:prstGeom>
          <a:noFill/>
        </p:spPr>
        <p:txBody>
          <a:bodyPr wrap="square"/>
          <a:lstStyle/>
          <a:p>
            <a:pPr algn="ctr"/>
            <a:r>
              <a:rPr sz="1600" b="1">
                <a:solidFill>
                  <a:srgbClr val="FFFFFF"/>
                </a:solidFill>
                <a:latin typeface="Calibri"/>
              </a:rPr>
              <a:t>1</a:t>
            </a:r>
          </a:p>
        </p:txBody>
      </p:sp>
      <p:sp>
        <p:nvSpPr>
          <p:cNvPr id="12" name="Rounded Rectangle 11"/>
          <p:cNvSpPr/>
          <p:nvPr/>
        </p:nvSpPr>
        <p:spPr>
          <a:xfrm>
            <a:off x="1188720" y="1188720"/>
            <a:ext cx="10515600" cy="914400"/>
          </a:xfrm>
          <a:prstGeom prst="roundRect">
            <a:avLst>
              <a:gd name="adj" fmla="val 8000"/>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17320" y="1389888"/>
            <a:ext cx="10058400" cy="548640"/>
          </a:xfrm>
          <a:prstGeom prst="rect">
            <a:avLst/>
          </a:prstGeom>
          <a:noFill/>
        </p:spPr>
        <p:txBody>
          <a:bodyPr wrap="square"/>
          <a:lstStyle/>
          <a:p>
            <a:pPr algn="l"/>
            <a:r>
              <a:rPr sz="1500" b="0">
                <a:solidFill>
                  <a:srgbClr val="1A1A1A"/>
                </a:solidFill>
                <a:latin typeface="Calibri"/>
              </a:rPr>
              <a:t>Does the dual-track framing and BRCA scaling gate feel appropriately rigorous for a dissertation contribution?</a:t>
            </a:r>
          </a:p>
        </p:txBody>
      </p:sp>
      <p:sp>
        <p:nvSpPr>
          <p:cNvPr id="14" name="Oval 13"/>
          <p:cNvSpPr/>
          <p:nvPr/>
        </p:nvSpPr>
        <p:spPr>
          <a:xfrm>
            <a:off x="502920" y="2377440"/>
            <a:ext cx="502920" cy="502920"/>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2441448"/>
            <a:ext cx="502920" cy="365760"/>
          </a:xfrm>
          <a:prstGeom prst="rect">
            <a:avLst/>
          </a:prstGeom>
          <a:noFill/>
        </p:spPr>
        <p:txBody>
          <a:bodyPr wrap="square"/>
          <a:lstStyle/>
          <a:p>
            <a:pPr algn="ctr"/>
            <a:r>
              <a:rPr sz="1600" b="1">
                <a:solidFill>
                  <a:srgbClr val="FFFFFF"/>
                </a:solidFill>
                <a:latin typeface="Calibri"/>
              </a:rPr>
              <a:t>2</a:t>
            </a:r>
          </a:p>
        </p:txBody>
      </p:sp>
      <p:sp>
        <p:nvSpPr>
          <p:cNvPr id="16" name="Rounded Rectangle 15"/>
          <p:cNvSpPr/>
          <p:nvPr/>
        </p:nvSpPr>
        <p:spPr>
          <a:xfrm>
            <a:off x="1188720" y="2240280"/>
            <a:ext cx="10515600" cy="914400"/>
          </a:xfrm>
          <a:prstGeom prst="roundRect">
            <a:avLst>
              <a:gd name="adj" fmla="val 8000"/>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17320" y="2441448"/>
            <a:ext cx="10058400" cy="548640"/>
          </a:xfrm>
          <a:prstGeom prst="rect">
            <a:avLst/>
          </a:prstGeom>
          <a:noFill/>
        </p:spPr>
        <p:txBody>
          <a:bodyPr wrap="square"/>
          <a:lstStyle/>
          <a:p>
            <a:pPr algn="l"/>
            <a:r>
              <a:rPr sz="1500" b="0">
                <a:solidFill>
                  <a:srgbClr val="1A1A1A"/>
                </a:solidFill>
                <a:latin typeface="Calibri"/>
              </a:rPr>
              <a:t>How should we weight TCGA’s multi-omic richness against AURORA’s stronger molecular timepoints for the BRCA longitudinal design?</a:t>
            </a:r>
          </a:p>
        </p:txBody>
      </p:sp>
      <p:sp>
        <p:nvSpPr>
          <p:cNvPr id="18" name="Oval 17"/>
          <p:cNvSpPr/>
          <p:nvPr/>
        </p:nvSpPr>
        <p:spPr>
          <a:xfrm>
            <a:off x="502920" y="3428999"/>
            <a:ext cx="502920" cy="50292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3493007"/>
            <a:ext cx="502920" cy="365760"/>
          </a:xfrm>
          <a:prstGeom prst="rect">
            <a:avLst/>
          </a:prstGeom>
          <a:noFill/>
        </p:spPr>
        <p:txBody>
          <a:bodyPr wrap="square"/>
          <a:lstStyle/>
          <a:p>
            <a:pPr algn="ctr"/>
            <a:r>
              <a:rPr sz="1600" b="1">
                <a:solidFill>
                  <a:srgbClr val="FFFFFF"/>
                </a:solidFill>
                <a:latin typeface="Calibri"/>
              </a:rPr>
              <a:t>3</a:t>
            </a:r>
          </a:p>
        </p:txBody>
      </p:sp>
      <p:sp>
        <p:nvSpPr>
          <p:cNvPr id="20" name="Rounded Rectangle 19"/>
          <p:cNvSpPr/>
          <p:nvPr/>
        </p:nvSpPr>
        <p:spPr>
          <a:xfrm>
            <a:off x="1188720" y="3291839"/>
            <a:ext cx="10515600" cy="914400"/>
          </a:xfrm>
          <a:prstGeom prst="roundRect">
            <a:avLst>
              <a:gd name="adj" fmla="val 8000"/>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3493007"/>
            <a:ext cx="10058400" cy="548640"/>
          </a:xfrm>
          <a:prstGeom prst="rect">
            <a:avLst/>
          </a:prstGeom>
          <a:noFill/>
        </p:spPr>
        <p:txBody>
          <a:bodyPr wrap="square"/>
          <a:lstStyle/>
          <a:p>
            <a:pPr algn="l"/>
            <a:r>
              <a:rPr sz="1500" b="0">
                <a:solidFill>
                  <a:srgbClr val="1A1A1A"/>
                </a:solidFill>
                <a:latin typeface="Calibri"/>
              </a:rPr>
              <a:t>Among ADNI, KORA, and LBC access paths, which Other-4 priorities should I pursue first while BRCA is underway?</a:t>
            </a:r>
          </a:p>
        </p:txBody>
      </p:sp>
      <p:sp>
        <p:nvSpPr>
          <p:cNvPr id="22" name="Oval 21"/>
          <p:cNvSpPr/>
          <p:nvPr/>
        </p:nvSpPr>
        <p:spPr>
          <a:xfrm>
            <a:off x="502920" y="4480560"/>
            <a:ext cx="502920" cy="502920"/>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4544568"/>
            <a:ext cx="502920" cy="365760"/>
          </a:xfrm>
          <a:prstGeom prst="rect">
            <a:avLst/>
          </a:prstGeom>
          <a:noFill/>
        </p:spPr>
        <p:txBody>
          <a:bodyPr wrap="square"/>
          <a:lstStyle/>
          <a:p>
            <a:pPr algn="ctr"/>
            <a:r>
              <a:rPr sz="1600" b="1">
                <a:solidFill>
                  <a:srgbClr val="FFFFFF"/>
                </a:solidFill>
                <a:latin typeface="Calibri"/>
              </a:rPr>
              <a:t>4</a:t>
            </a:r>
          </a:p>
        </p:txBody>
      </p:sp>
      <p:sp>
        <p:nvSpPr>
          <p:cNvPr id="24" name="Rounded Rectangle 23"/>
          <p:cNvSpPr/>
          <p:nvPr/>
        </p:nvSpPr>
        <p:spPr>
          <a:xfrm>
            <a:off x="1188720" y="4343400"/>
            <a:ext cx="10515600" cy="914400"/>
          </a:xfrm>
          <a:prstGeom prst="roundRect">
            <a:avLst>
              <a:gd name="adj" fmla="val 8000"/>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417320" y="4544568"/>
            <a:ext cx="10058400" cy="548640"/>
          </a:xfrm>
          <a:prstGeom prst="rect">
            <a:avLst/>
          </a:prstGeom>
          <a:noFill/>
        </p:spPr>
        <p:txBody>
          <a:bodyPr wrap="square"/>
          <a:lstStyle/>
          <a:p>
            <a:pPr algn="l"/>
            <a:r>
              <a:rPr sz="1500" b="0">
                <a:solidFill>
                  <a:srgbClr val="1A1A1A"/>
                </a:solidFill>
                <a:latin typeface="Calibri"/>
              </a:rPr>
              <a:t>If Track B shows only interpretability or sparsity gains—not accuracy—should that still unlock multi-disease claims?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
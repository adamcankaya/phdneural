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dd63c0b5f74403b" /><Relationship Type="http://schemas.openxmlformats.org/officeDocument/2006/relationships/extended-properties" Target="/docProps/app.xml" Id="R56214ff9a6754046" /><Relationship Type="http://schemas.openxmlformats.org/officeDocument/2006/relationships/officeDocument" Target="/ppt/presentation.xml" Id="Rad9e5334f8a748e0" /></Relationships>
</file>

<file path=ppt/presentation.xml><?xml version="1.0" encoding="utf-8"?>
<p:presentation xmlns:p="http://schemas.openxmlformats.org/presentationml/2006/main">
  <p:sldMasterIdLst>
    <p:sldMasterId xmlns:r="http://schemas.openxmlformats.org/officeDocument/2006/relationships" id="2147483648" r:id="R2b5463fbdac743e8"/>
  </p:sldMasterIdLst>
  <p:notesMasterIdLst>
    <p:notesMasterId xmlns:r="http://schemas.openxmlformats.org/officeDocument/2006/relationships" r:id="R3d6cc92a81384735"/>
  </p:notesMasterIdLst>
  <p:sldIdLst>
    <p:sldId xmlns:r="http://schemas.openxmlformats.org/officeDocument/2006/relationships" id="256" r:id="R8d69e479dce4430f"/>
    <p:sldId xmlns:r="http://schemas.openxmlformats.org/officeDocument/2006/relationships" id="257" r:id="R8f8366ad8d234117"/>
    <p:sldId xmlns:r="http://schemas.openxmlformats.org/officeDocument/2006/relationships" id="258" r:id="R504458a816af486a"/>
    <p:sldId xmlns:r="http://schemas.openxmlformats.org/officeDocument/2006/relationships" id="259" r:id="R2aaccf9ba7e24964"/>
    <p:sldId xmlns:r="http://schemas.openxmlformats.org/officeDocument/2006/relationships" id="260" r:id="Re8e685ce34cd4dc5"/>
    <p:sldId xmlns:r="http://schemas.openxmlformats.org/officeDocument/2006/relationships" id="261" r:id="R5924249130084798"/>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981666273c584154" /><Relationship Type="http://schemas.openxmlformats.org/officeDocument/2006/relationships/slideMaster" Target="/ppt/slideMasters/slideMaster1.xml" Id="R2b5463fbdac743e8" /><Relationship Type="http://schemas.openxmlformats.org/officeDocument/2006/relationships/notesMaster" Target="/ppt/notesMasters/notesMaster1.xml" Id="R3d6cc92a81384735" /><Relationship Type="http://schemas.openxmlformats.org/officeDocument/2006/relationships/presProps" Target="/ppt/presProps.xml" Id="Rdd5a6992b9e94097" /><Relationship Type="http://schemas.openxmlformats.org/officeDocument/2006/relationships/viewProps" Target="/ppt/viewProps.xml" Id="R9edbf5b775654827" /><Relationship Type="http://schemas.openxmlformats.org/officeDocument/2006/relationships/tableStyles" Target="/ppt/tableStyles.xml" Id="R07d056bcf1734bc3" /><Relationship Type="http://schemas.openxmlformats.org/officeDocument/2006/relationships/slide" Target="/ppt/slides/slide1.xml" Id="R8d69e479dce4430f" /><Relationship Type="http://schemas.openxmlformats.org/officeDocument/2006/relationships/slide" Target="/ppt/slides/slide2.xml" Id="R8f8366ad8d234117" /><Relationship Type="http://schemas.openxmlformats.org/officeDocument/2006/relationships/slide" Target="/ppt/slides/slide3.xml" Id="R504458a816af486a" /><Relationship Type="http://schemas.openxmlformats.org/officeDocument/2006/relationships/slide" Target="/ppt/slides/slide4.xml" Id="R2aaccf9ba7e24964" /><Relationship Type="http://schemas.openxmlformats.org/officeDocument/2006/relationships/slide" Target="/ppt/slides/slide5.xml" Id="Re8e685ce34cd4dc5" /><Relationship Type="http://schemas.openxmlformats.org/officeDocument/2006/relationships/slide" Target="/ppt/slides/slide6.xml" Id="R592424913008479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975e92de12740d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5c3ca2376e74b93" /><Relationship Type="http://schemas.openxmlformats.org/officeDocument/2006/relationships/notesMaster" Target="/ppt/notesMasters/notesMaster1.xml" Id="R8e2d0e5fcc2b4f90" /></Relationships>
</file>

<file path=ppt/notesSlides/_rels/notesSlide2.xml.rels>&#65279;<?xml version="1.0" encoding="utf-8"?><Relationships xmlns="http://schemas.openxmlformats.org/package/2006/relationships"><Relationship Type="http://schemas.openxmlformats.org/officeDocument/2006/relationships/slide" Target="/ppt/slides/slide2.xml" Id="R9681c753aae144fc" /><Relationship Type="http://schemas.openxmlformats.org/officeDocument/2006/relationships/notesMaster" Target="/ppt/notesMasters/notesMaster1.xml" Id="R52a62d42fb024c0e" /></Relationships>
</file>

<file path=ppt/notesSlides/_rels/notesSlide3.xml.rels>&#65279;<?xml version="1.0" encoding="utf-8"?><Relationships xmlns="http://schemas.openxmlformats.org/package/2006/relationships"><Relationship Type="http://schemas.openxmlformats.org/officeDocument/2006/relationships/slide" Target="/ppt/slides/slide3.xml" Id="Rfb3a6b4d1a63470a" /><Relationship Type="http://schemas.openxmlformats.org/officeDocument/2006/relationships/notesMaster" Target="/ppt/notesMasters/notesMaster1.xml" Id="R58a0d139e7c94fb9" /></Relationships>
</file>

<file path=ppt/notesSlides/_rels/notesSlide4.xml.rels>&#65279;<?xml version="1.0" encoding="utf-8"?><Relationships xmlns="http://schemas.openxmlformats.org/package/2006/relationships"><Relationship Type="http://schemas.openxmlformats.org/officeDocument/2006/relationships/slide" Target="/ppt/slides/slide4.xml" Id="R711fe9243eb14257" /><Relationship Type="http://schemas.openxmlformats.org/officeDocument/2006/relationships/notesMaster" Target="/ppt/notesMasters/notesMaster1.xml" Id="R74b1618ec54d4d9a" /></Relationships>
</file>

<file path=ppt/notesSlides/_rels/notesSlide5.xml.rels>&#65279;<?xml version="1.0" encoding="utf-8"?><Relationships xmlns="http://schemas.openxmlformats.org/package/2006/relationships"><Relationship Type="http://schemas.openxmlformats.org/officeDocument/2006/relationships/slide" Target="/ppt/slides/slide5.xml" Id="Rc3d94c76216e4524" /><Relationship Type="http://schemas.openxmlformats.org/officeDocument/2006/relationships/notesMaster" Target="/ppt/notesMasters/notesMaster1.xml" Id="R0d800e7c6c734c4a" /></Relationships>
</file>

<file path=ppt/notesSlides/_rels/notesSlide6.xml.rels>&#65279;<?xml version="1.0" encoding="utf-8"?><Relationships xmlns="http://schemas.openxmlformats.org/package/2006/relationships"><Relationship Type="http://schemas.openxmlformats.org/officeDocument/2006/relationships/slide" Target="/ppt/slides/slide6.xml" Id="R2be0b7aab9814d01" /><Relationship Type="http://schemas.openxmlformats.org/officeDocument/2006/relationships/notesMaster" Target="/ppt/notesMasters/notesMaster1.xml" Id="R619b3c0ff37c40d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a:latin typeface="Calibri"/>
                <a:ea typeface="Calibri"/>
                <a:cs typeface="Calibri"/>
              </a:rPr>
              <a:t>Welcome the committee and state the dissertation project in one sentence: this study tests whether biological pathway constraints improve neural architecture search for longitudinal multi-omic disease prediction. Preview the BRCA-first design and the short roadmap that follows.</a:t>
            </a:r>
          </a:p>
          <a:p xmlns:a="http://schemas.openxmlformats.org/drawingml/2006/main">
            <a:r>
              <a:rPr sz="1200">
                <a:latin typeface="Calibri"/>
                <a:ea typeface="Calibri"/>
                <a:cs typeface="Calibri"/>
              </a:rPr>
              <a:t/>
            </a:r>
          </a:p>
          <a:p xmlns:a="http://schemas.openxmlformats.org/drawingml/2006/main">
            <a:r>
              <a:rPr sz="1200">
                <a:latin typeface="Calibri"/>
                <a:ea typeface="Calibri"/>
                <a:cs typeface="Calibri"/>
              </a:rPr>
              <a:t>[Sources]</a:t>
            </a:r>
          </a:p>
          <a:p xmlns:a="http://schemas.openxmlformats.org/drawingml/2006/main">
            <a:r>
              <a:rPr sz="1200">
                <a:latin typeface="Calibri"/>
                <a:ea typeface="Calibri"/>
                <a:cs typeface="Calibri"/>
              </a:rPr>
              <a:t>- https://github.com/AdamCankaya/PhDNeural/blob/main/Bio-NAS/README.md</a:t>
            </a:r>
          </a:p>
          <a:p xmlns:a="http://schemas.openxmlformats.org/drawingml/2006/main">
            <a:r>
              <a:rPr sz="1200">
                <a:latin typeface="Calibri"/>
                <a:ea typeface="Calibri"/>
                <a:cs typeface="Calibri"/>
              </a:rPr>
              <a:t>- https://github.com/AdamCankaya/PhDNeural/wiki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a:latin typeface="Calibri"/>
                <a:ea typeface="Calibri"/>
                <a:cs typeface="Calibri"/>
              </a:rPr>
              <a:t>Introduce the central comparison. Bio-NAS restricts candidate connections using biological pathways, while the standard NAS track supplies the unconstrained control. The BRCA vertical slice is the evidence base for any later multi-disease expansion.</a:t>
            </a:r>
          </a:p>
          <a:p xmlns:a="http://schemas.openxmlformats.org/drawingml/2006/main">
            <a:r>
              <a:rPr sz="1200">
                <a:latin typeface="Calibri"/>
                <a:ea typeface="Calibri"/>
                <a:cs typeface="Calibri"/>
              </a:rPr>
              <a:t/>
            </a:r>
          </a:p>
          <a:p xmlns:a="http://schemas.openxmlformats.org/drawingml/2006/main">
            <a:r>
              <a:rPr sz="1200">
                <a:latin typeface="Calibri"/>
                <a:ea typeface="Calibri"/>
                <a:cs typeface="Calibri"/>
              </a:rPr>
              <a:t>[Sources]</a:t>
            </a:r>
          </a:p>
          <a:p xmlns:a="http://schemas.openxmlformats.org/drawingml/2006/main">
            <a:r>
              <a:rPr sz="1200">
                <a:latin typeface="Calibri"/>
                <a:ea typeface="Calibri"/>
                <a:cs typeface="Calibri"/>
              </a:rPr>
              <a:t>- https://github.com/AdamCankaya/PhDNeural/blob/main/Bio-NAS/README.md</a:t>
            </a:r>
          </a:p>
          <a:p xmlns:a="http://schemas.openxmlformats.org/drawingml/2006/main">
            <a:r>
              <a:rPr sz="1200">
                <a:latin typeface="Calibri"/>
                <a:ea typeface="Calibri"/>
                <a:cs typeface="Calibri"/>
              </a:rPr>
              <a:t>- https://github.com/AdamCankaya/PhDNeural/wiki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a:latin typeface="Calibri"/>
                <a:ea typeface="Calibri"/>
                <a:cs typeface="Calibri"/>
              </a:rPr>
              <a:t>Describe the outputs as an auditable package rather than a single accuracy score: reproducible search records, patient-level comparisons, biological attribution, an explicit scaling gate, and a reusable release. Emphasize that the expansion decision is evidence-gated.</a:t>
            </a:r>
          </a:p>
          <a:p xmlns:a="http://schemas.openxmlformats.org/drawingml/2006/main">
            <a:r>
              <a:rPr sz="1200">
                <a:latin typeface="Calibri"/>
                <a:ea typeface="Calibri"/>
                <a:cs typeface="Calibri"/>
              </a:rPr>
              <a:t/>
            </a:r>
          </a:p>
          <a:p xmlns:a="http://schemas.openxmlformats.org/drawingml/2006/main">
            <a:r>
              <a:rPr sz="1200">
                <a:latin typeface="Calibri"/>
                <a:ea typeface="Calibri"/>
                <a:cs typeface="Calibri"/>
              </a:rPr>
              <a:t>[Sources]</a:t>
            </a:r>
          </a:p>
          <a:p xmlns:a="http://schemas.openxmlformats.org/drawingml/2006/main">
            <a:r>
              <a:rPr sz="1200">
                <a:latin typeface="Calibri"/>
                <a:ea typeface="Calibri"/>
                <a:cs typeface="Calibri"/>
              </a:rPr>
              <a:t>- https://github.com/AdamCankaya/PhDNeural/blob/main/Bio-NAS/README.md</a:t>
            </a:r>
          </a:p>
          <a:p xmlns:a="http://schemas.openxmlformats.org/drawingml/2006/main">
            <a:r>
              <a:rPr sz="1200">
                <a:latin typeface="Calibri"/>
                <a:ea typeface="Calibri"/>
                <a:cs typeface="Calibri"/>
              </a:rPr>
              <a:t>- https://github.com/AdamCankaya/PhDNeural/wiki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a:latin typeface="Calibri"/>
                <a:ea typeface="Calibri"/>
                <a:cs typeface="Calibri"/>
              </a:rPr>
              <a:t>Walk through the inputs from left to right. Molecular profiles and clinical timing provide the observations; KEGG and Reactome supply biological priors; comparative cohorts test generality. State clearly that controlled-access cohorts will only be used after their required approvals.</a:t>
            </a:r>
          </a:p>
          <a:p xmlns:a="http://schemas.openxmlformats.org/drawingml/2006/main">
            <a:r>
              <a:rPr sz="1200">
                <a:latin typeface="Calibri"/>
                <a:ea typeface="Calibri"/>
                <a:cs typeface="Calibri"/>
              </a:rPr>
              <a:t/>
            </a:r>
          </a:p>
          <a:p xmlns:a="http://schemas.openxmlformats.org/drawingml/2006/main">
            <a:r>
              <a:rPr sz="1200">
                <a:latin typeface="Calibri"/>
                <a:ea typeface="Calibri"/>
                <a:cs typeface="Calibri"/>
              </a:rPr>
              <a:t>[Sources]</a:t>
            </a:r>
          </a:p>
          <a:p xmlns:a="http://schemas.openxmlformats.org/drawingml/2006/main">
            <a:r>
              <a:rPr sz="1200">
                <a:latin typeface="Calibri"/>
                <a:ea typeface="Calibri"/>
                <a:cs typeface="Calibri"/>
              </a:rPr>
              <a:t>- https://github.com/AdamCankaya/PhDNeural/blob/main/Bio-NAS/README.md</a:t>
            </a:r>
          </a:p>
          <a:p xmlns:a="http://schemas.openxmlformats.org/drawingml/2006/main">
            <a:r>
              <a:rPr sz="1200">
                <a:latin typeface="Calibri"/>
                <a:ea typeface="Calibri"/>
                <a:cs typeface="Calibri"/>
              </a:rPr>
              <a:t>- https://github.com/AdamCankaya/PhDNeural/wiki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a:latin typeface="Calibri"/>
                <a:ea typeface="Calibri"/>
                <a:cs typeface="Calibri"/>
              </a:rPr>
              <a:t>Summarize the three-year sequence. Year 1 establishes data and infrastructure, Year 2 runs the dual-track BRCA evaluation, and Year 3 focuses on interpretation, synthesis, dissertation writing, and release. The BRCA evaluation is the scaling gate.</a:t>
            </a:r>
          </a:p>
          <a:p xmlns:a="http://schemas.openxmlformats.org/drawingml/2006/main">
            <a:r>
              <a:rPr sz="1200">
                <a:latin typeface="Calibri"/>
                <a:ea typeface="Calibri"/>
                <a:cs typeface="Calibri"/>
              </a:rPr>
              <a:t/>
            </a:r>
          </a:p>
          <a:p xmlns:a="http://schemas.openxmlformats.org/drawingml/2006/main">
            <a:r>
              <a:rPr sz="1200">
                <a:latin typeface="Calibri"/>
                <a:ea typeface="Calibri"/>
                <a:cs typeface="Calibri"/>
              </a:rPr>
              <a:t>[Sources]</a:t>
            </a:r>
          </a:p>
          <a:p xmlns:a="http://schemas.openxmlformats.org/drawingml/2006/main">
            <a:r>
              <a:rPr sz="1200">
                <a:latin typeface="Calibri"/>
                <a:ea typeface="Calibri"/>
                <a:cs typeface="Calibri"/>
              </a:rPr>
              <a:t>- https://github.com/AdamCankaya/PhDNeural/blob/main/Bio-NAS/README.md</a:t>
            </a:r>
          </a:p>
          <a:p xmlns:a="http://schemas.openxmlformats.org/drawingml/2006/main">
            <a:r>
              <a:rPr sz="1200">
                <a:latin typeface="Calibri"/>
                <a:ea typeface="Calibri"/>
                <a:cs typeface="Calibri"/>
              </a:rPr>
              <a:t>- https://github.com/AdamCankaya/PhDNeural/wiki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a:latin typeface="Calibri"/>
                <a:ea typeface="Calibri"/>
                <a:cs typeface="Calibri"/>
              </a:rPr>
              <a:t>Close with the live project artifacts. The dashboard tracks progress, the repository contains code and plan sources, the wiki records research and data decisions, Project Pages hosts published updates, and the issue tracker is the authoritative roadmap. Invite the committee to use these resources between meetings.</a:t>
            </a:r>
          </a:p>
          <a:p xmlns:a="http://schemas.openxmlformats.org/drawingml/2006/main">
            <a:r>
              <a:rPr sz="1200">
                <a:latin typeface="Calibri"/>
                <a:ea typeface="Calibri"/>
                <a:cs typeface="Calibri"/>
              </a:rPr>
              <a:t/>
            </a:r>
          </a:p>
          <a:p xmlns:a="http://schemas.openxmlformats.org/drawingml/2006/main">
            <a:r>
              <a:rPr sz="1200">
                <a:latin typeface="Calibri"/>
                <a:ea typeface="Calibri"/>
                <a:cs typeface="Calibri"/>
              </a:rPr>
              <a:t>[Sources]</a:t>
            </a:r>
          </a:p>
          <a:p xmlns:a="http://schemas.openxmlformats.org/drawingml/2006/main">
            <a:r>
              <a:rPr sz="1200">
                <a:latin typeface="Calibri"/>
                <a:ea typeface="Calibri"/>
                <a:cs typeface="Calibri"/>
              </a:rPr>
              <a:t>- https://github.com/AdamCankaya/PhDNeural</a:t>
            </a:r>
          </a:p>
          <a:p xmlns:a="http://schemas.openxmlformats.org/drawingml/2006/main">
            <a:r>
              <a:rPr sz="1200">
                <a:latin typeface="Calibri"/>
                <a:ea typeface="Calibri"/>
                <a:cs typeface="Calibri"/>
              </a:rPr>
              <a:t>- https://github.com/AdamCankaya/PhDNeural/wiki</a:t>
            </a:r>
          </a:p>
          <a:p xmlns:a="http://schemas.openxmlformats.org/drawingml/2006/main">
            <a:r>
              <a:rPr sz="1200">
                <a:latin typeface="Calibri"/>
                <a:ea typeface="Calibri"/>
                <a:cs typeface="Calibri"/>
              </a:rPr>
              <a:t>- https://adamcankaya.github.io/PhDNeural/Bio-NAS/</a:t>
            </a:r>
          </a:p>
          <a:p xmlns:a="http://schemas.openxmlformats.org/drawingml/2006/main">
            <a:r>
              <a:rPr sz="1200">
                <a:latin typeface="Calibri"/>
                <a:ea typeface="Calibri"/>
                <a:cs typeface="Calibri"/>
              </a:rPr>
              <a:t>- https://github.com/AdamCankaya/PhDNeural/issues?q=label%3Aphd-sync+is%3Aopen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460ed1283b8470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c9c3eebe90348b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3cce5eebe4149b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33a693f976c426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3d787a2c53d4d4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6b2a1bcee6049dd"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763f2695756347e1"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9d7316c1ec7040f1"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74677be37ef74ee4"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7d4824056008493c"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e5b468288dbd4600"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E987CA0-F1D2-43B5-9455-6BC9DB365882}"/>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3A3A88DC-F400-4F90-959F-D74393F37DE1}"/>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AF4C24A2-BBD3-4C31-AB17-227AEF298AB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D9352F3A-F0AB-470E-BE3F-341ABD56A29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7575577-5861-441C-8501-20DB4257274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7FBB5CF-AEDB-4244-9563-7A11E1902E3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A018169F-2426-44DD-9E96-58F0558B34B2}"/>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4D45C85F-5462-48EC-A656-6728E2C41BD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42B09C18-3CE5-47CF-8E45-67421356D79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4D8599C-2B7A-4542-A384-342927F62D9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87EBA97-63E4-41CE-9694-81F4DBF2FA55}"/>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723CE462-96D8-4D1A-84A4-4E73D88A5269}"/>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39CDF5F2-F222-4208-81C2-26C0E36EE2C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1816DC9F-E4E5-4496-B5A9-876D7056B32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BA994C64-0B24-47DA-9AEA-2EC662FDF82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AE0A6E4-35F8-44E1-9299-990D6565CAA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3150EB9C-3B60-47FB-91B6-D144452C6027}"/>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C563CD40-61EA-4E73-AE86-BFCF681E5090}"/>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CF0F8F20-402B-444D-8090-7D8D696B223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9EA5877A-7124-4AB9-89B2-D0EE637D96B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BF7D50E9-163B-40F7-A0C8-08B41EE5873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B50AC2E-6076-4920-B29E-B5A9020044F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53B461D3-B6F4-436B-ACDC-DDE7CE812256}"/>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37ACAE57-4C53-428B-BE0F-D6E0C7216605}"/>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D525DAC2-0ACD-4364-AB06-8D41B5B14853}"/>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00944F53-FBB9-4D4D-AAEF-3FB8E4B0C915}"/>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FD3844F1-F4B5-4E17-8923-3D59904A116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8" name="Footer Placeholder 7">
            <a:extLst xmlns:a="http://schemas.openxmlformats.org/drawingml/2006/main">
              <a:ext uri="{FF2B5EF4-FFF2-40B4-BE49-F238E27FC236}">
                <a16:creationId xmlns:a16="http://schemas.microsoft.com/office/drawing/2014/main" id="{1B572567-F0A1-4937-BD9A-DA98A5FB404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D13B134B-EE4B-412B-8CCE-D8F6E6F3BD6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4C4EF3B-B4E6-4701-A9DA-179B441DFA3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357950DE-AF24-453E-A56B-63B8E7D4280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4" name="Footer Placeholder 3">
            <a:extLst xmlns:a="http://schemas.openxmlformats.org/drawingml/2006/main">
              <a:ext uri="{FF2B5EF4-FFF2-40B4-BE49-F238E27FC236}">
                <a16:creationId xmlns:a16="http://schemas.microsoft.com/office/drawing/2014/main" id="{5832E588-2BE7-44AC-A6AB-8C3B668224E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CDCE5651-FD73-4394-849A-FEE07163863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4C95BD4F-9139-49CF-A431-C09B9F471E1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3" name="Footer Placeholder 2">
            <a:extLst xmlns:a="http://schemas.openxmlformats.org/drawingml/2006/main">
              <a:ext uri="{FF2B5EF4-FFF2-40B4-BE49-F238E27FC236}">
                <a16:creationId xmlns:a16="http://schemas.microsoft.com/office/drawing/2014/main" id="{A77C982D-C23A-408B-9E7A-322A34D5FDD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AB75BE9A-5352-4A16-83D9-40CDC038C0E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DE7D6F8-CA7B-4BA4-990C-FB0CD9B4C438}"/>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2C06902D-7D53-4B83-8B16-124A6F728F00}"/>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A563052F-8F6D-4E05-8B59-CDDF4F49A2D1}"/>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91B24C0A-1D9E-4304-9F2F-A659758D75A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3B4C74AD-AD8D-4D8B-8CE6-890D0D7F111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A7853008-912B-4A1E-B02F-54CF61F5CCD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52E3097-8172-4062-B847-D9295D643F3C}"/>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F78DAF56-99C8-4072-9843-B61392D54406}"/>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26EB1727-538E-40F8-BF31-F6FE4361B96C}"/>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3F647BC4-C290-4D82-B08D-2004F9BDE9F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06C8F3B5-BA9A-4852-B35B-7A0A9C90101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1C9454F6-E691-430D-852C-28BA9EB5DB3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3CD21B7-8E60-4F5F-B800-70D1F896FFB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9F79A9A4-DB29-4233-9A21-590F50E2AA31}"/>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3709B900-8141-43A5-B84C-3AF99FE2508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BA6291CE-37A7-4932-8575-1AB9A83D346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2E8D590-C78F-41DD-B0D3-4D5AE22AF67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BD0DCEE2-C9A0-4A6B-A12D-4D0773E90D6C}"/>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38FB20A2-9F5F-4545-9C49-7BD4DA7FF6AA}"/>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9151CA67-089E-4C5D-BF2F-77EC50F7B2B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B5911B1F-5FD8-4E95-A50C-3C294A12D03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91AB0FF-8938-4F68-8E31-CF1336B6047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7cf0ad1355045d5" /><Relationship Type="http://schemas.openxmlformats.org/officeDocument/2006/relationships/slideLayout" Target="/ppt/slideLayouts/slideLayout1.xml" Id="Rdc4deddf4970475f" /><Relationship Type="http://schemas.openxmlformats.org/officeDocument/2006/relationships/slideLayout" Target="/ppt/slideLayouts/slideLayout2.xml" Id="R6b8b5f66842b476c" /><Relationship Type="http://schemas.openxmlformats.org/officeDocument/2006/relationships/slideLayout" Target="/ppt/slideLayouts/slideLayout3.xml" Id="Rdd7f566a51d8437b" /><Relationship Type="http://schemas.openxmlformats.org/officeDocument/2006/relationships/slideLayout" Target="/ppt/slideLayouts/slideLayout4.xml" Id="R0f6be82ba58f4481" /><Relationship Type="http://schemas.openxmlformats.org/officeDocument/2006/relationships/slideLayout" Target="/ppt/slideLayouts/slideLayout5.xml" Id="Rf778ca6d8ca64961" /><Relationship Type="http://schemas.openxmlformats.org/officeDocument/2006/relationships/slideLayout" Target="/ppt/slideLayouts/slideLayout6.xml" Id="R6e92ed0371bf49a9" /><Relationship Type="http://schemas.openxmlformats.org/officeDocument/2006/relationships/slideLayout" Target="/ppt/slideLayouts/slideLayout7.xml" Id="Re01671a7e95748dd" /><Relationship Type="http://schemas.openxmlformats.org/officeDocument/2006/relationships/slideLayout" Target="/ppt/slideLayouts/slideLayout8.xml" Id="Rb260cd48c52d4fb8" /><Relationship Type="http://schemas.openxmlformats.org/officeDocument/2006/relationships/slideLayout" Target="/ppt/slideLayouts/slideLayout9.xml" Id="Rfbb8466c2c364384" /><Relationship Type="http://schemas.openxmlformats.org/officeDocument/2006/relationships/slideLayout" Target="/ppt/slideLayouts/slideLayout10.xml" Id="R0e5b6c5a5fb0457c" /><Relationship Type="http://schemas.openxmlformats.org/officeDocument/2006/relationships/slideLayout" Target="/ppt/slideLayouts/slideLayout11.xml" Id="R5609eb6706c949c7"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3DE2CC95-91CD-43BA-ACAB-BDA5212B91E2}"/>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090405A7-C93A-4281-A079-BA979977D823}"/>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71CB0E0E-3EB8-4111-BE22-CCD45860D188}"/>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ECE12553-68F4-4840-9747-E92ED64E6BF8}"/>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559D10B-8EFC-472D-AE15-B42136D80765}"/>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c4deddf4970475f"/>
    <p:sldLayoutId xmlns:r="http://schemas.openxmlformats.org/officeDocument/2006/relationships" id="2147483650" r:id="R6b8b5f66842b476c"/>
    <p:sldLayoutId xmlns:r="http://schemas.openxmlformats.org/officeDocument/2006/relationships" id="2147483651" r:id="Rdd7f566a51d8437b"/>
    <p:sldLayoutId xmlns:r="http://schemas.openxmlformats.org/officeDocument/2006/relationships" id="2147483652" r:id="R0f6be82ba58f4481"/>
    <p:sldLayoutId xmlns:r="http://schemas.openxmlformats.org/officeDocument/2006/relationships" id="2147483653" r:id="Rf778ca6d8ca64961"/>
    <p:sldLayoutId xmlns:r="http://schemas.openxmlformats.org/officeDocument/2006/relationships" id="2147483654" r:id="R6e92ed0371bf49a9"/>
    <p:sldLayoutId xmlns:r="http://schemas.openxmlformats.org/officeDocument/2006/relationships" id="2147483655" r:id="Re01671a7e95748dd"/>
    <p:sldLayoutId xmlns:r="http://schemas.openxmlformats.org/officeDocument/2006/relationships" id="2147483656" r:id="Rb260cd48c52d4fb8"/>
    <p:sldLayoutId xmlns:r="http://schemas.openxmlformats.org/officeDocument/2006/relationships" id="2147483657" r:id="Rfbb8466c2c364384"/>
    <p:sldLayoutId xmlns:r="http://schemas.openxmlformats.org/officeDocument/2006/relationships" id="2147483658" r:id="R0e5b6c5a5fb0457c"/>
    <p:sldLayoutId xmlns:r="http://schemas.openxmlformats.org/officeDocument/2006/relationships" id="2147483659" r:id="R5609eb6706c949c7"/>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4e0f7d48cf5d4442" /><Relationship Type="http://schemas.openxmlformats.org/officeDocument/2006/relationships/notesSlide" Target="/ppt/notesSlides/notesSlide1.xml" Id="R6b4c7afbc43d4391"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4d3338d1d1554727" /><Relationship Type="http://schemas.openxmlformats.org/officeDocument/2006/relationships/notesSlide" Target="/ppt/notesSlides/notesSlide2.xml" Id="Ra3cc8abc6e3f4553"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4ae3cd4686474dc6" /><Relationship Type="http://schemas.openxmlformats.org/officeDocument/2006/relationships/notesSlide" Target="/ppt/notesSlides/notesSlide3.xml" Id="R4b2bbba1994c404e"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ce3bff5d15fd42ea" /><Relationship Type="http://schemas.openxmlformats.org/officeDocument/2006/relationships/notesSlide" Target="/ppt/notesSlides/notesSlide4.xml" Id="R5fd2bfb56eae4470"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c4bec141654d4f29" /><Relationship Type="http://schemas.openxmlformats.org/officeDocument/2006/relationships/notesSlide" Target="/ppt/notesSlides/notesSlide5.xml" Id="Rafe813202a074c96"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322431aa96a84dc2" /><Relationship Type="http://schemas.openxmlformats.org/officeDocument/2006/relationships/hyperlink" Target="https://adamcankaya.github.io/PhDNeural/Bio-NAS/phd_bio-nas_timeline_dashboard.html" TargetMode="External" Id="R568dbd75273a4015" /><Relationship Type="http://schemas.openxmlformats.org/officeDocument/2006/relationships/hyperlink" Target="https://github.com/AdamCankaya/PhDNeural" TargetMode="External" Id="R7cb50e9883ba465d" /><Relationship Type="http://schemas.openxmlformats.org/officeDocument/2006/relationships/hyperlink" Target="https://github.com/AdamCankaya/PhDNeural/wiki" TargetMode="External" Id="R0df861fed7ff4f3a" /><Relationship Type="http://schemas.openxmlformats.org/officeDocument/2006/relationships/hyperlink" Target="https://adamcankaya.github.io/PhDNeural/Bio-NAS/" TargetMode="External" Id="Re035aa72e7594c17" /><Relationship Type="http://schemas.openxmlformats.org/officeDocument/2006/relationships/hyperlink" Target="https://github.com/AdamCankaya/PhDNeural/issues?q=label%3Aphd-sync+is%3Aopen" TargetMode="External" Id="R3e6cbf995dc44e72" /><Relationship Type="http://schemas.openxmlformats.org/officeDocument/2006/relationships/notesSlide" Target="/ppt/notesSlides/notesSlide6.xml" Id="Ra74ba5883cc54046" /></Relationships>
</file>

<file path=ppt/slides/slide1.xml><?xml version="1.0" encoding="utf-8"?>
<p:sld xmlns:p="http://schemas.openxmlformats.org/presentationml/2006/main">
  <p:cSld>
    <p:bg>
      <p:bgPr>
        <a:solidFill xmlns:a="http://schemas.openxmlformats.org/drawingml/2006/main">
          <a:srgbClr val="003366"/>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79799A8F-CEAE-4445-A5A9-CD0E818C7537}"/>
              </a:ext>
            </a:extLst>
          </p:cNvPr>
          <p:cNvSpPr>
            <a:spLocks xmlns:a="http://schemas.openxmlformats.org/drawingml/2006/main" noGrp="1"/>
          </p:cNvSpPr>
          <p:nvPr/>
        </p:nvSpPr>
        <p:spPr>
          <a:xfrm xmlns:a="http://schemas.openxmlformats.org/drawingml/2006/main">
            <a:off x="0" y="5440680"/>
            <a:ext cx="12191695" cy="1417320"/>
          </a:xfrm>
          <a:prstGeom xmlns:a="http://schemas.openxmlformats.org/drawingml/2006/main" prst="rect">
            <a:avLst/>
          </a:prstGeom>
          <a:solidFill xmlns:a="http://schemas.openxmlformats.org/drawingml/2006/main">
            <a:srgbClr val="CC00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F394F7E5-DFC3-454A-A038-155E813D3BAF}"/>
              </a:ext>
            </a:extLst>
          </p:cNvPr>
          <p:cNvSpPr>
            <a:spLocks xmlns:a="http://schemas.openxmlformats.org/drawingml/2006/main" noGrp="1"/>
          </p:cNvSpPr>
          <p:nvPr/>
        </p:nvSpPr>
        <p:spPr>
          <a:xfrm xmlns:a="http://schemas.openxmlformats.org/drawingml/2006/main">
            <a:off x="0" y="5440680"/>
            <a:ext cx="12191695" cy="54864"/>
          </a:xfrm>
          <a:prstGeom xmlns:a="http://schemas.openxmlformats.org/drawingml/2006/main" prst="rect">
            <a:avLst/>
          </a:prstGeom>
          <a:solidFill xmlns:a="http://schemas.openxmlformats.org/drawingml/2006/main">
            <a:srgbClr val="CCCCC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FF4237BA-1FB7-47D4-B798-9736F3289FF0}"/>
              </a:ext>
            </a:extLst>
          </p:cNvPr>
          <p:cNvSpPr>
            <a:spLocks xmlns:a="http://schemas.openxmlformats.org/drawingml/2006/main" noGrp="1"/>
          </p:cNvSpPr>
          <p:nvPr/>
        </p:nvSpPr>
        <p:spPr>
          <a:xfrm xmlns:a="http://schemas.openxmlformats.org/drawingml/2006/main">
            <a:off x="731520" y="640080"/>
            <a:ext cx="10515600" cy="36576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p xmlns:a="http://schemas.openxmlformats.org/drawingml/2006/main">
            <a:pPr algn="l">
              <a:buNone/>
            </a:pPr>
            <a:r>
              <a:rPr sz="1400" b="1">
                <a:solidFill>
                  <a:srgbClr val="CCCCCC"/>
                </a:solidFill>
                <a:latin typeface="Calibri"/>
                <a:ea typeface="Calibri"/>
                <a:cs typeface="Calibri"/>
              </a:rPr>
              <a:t>FLORIDA ATLANTIC UNIVERSITY</a:t>
            </a:r>
          </a:p>
        </p:txBody>
      </p:sp>
      <p:sp>
        <p:nvSpPr>
          <p:cNvPr id="5" name="TextBox 4">
            <a:extLst xmlns:a="http://schemas.openxmlformats.org/drawingml/2006/main">
              <a:ext uri="{FF2B5EF4-FFF2-40B4-BE49-F238E27FC236}">
                <a16:creationId xmlns:a16="http://schemas.microsoft.com/office/drawing/2014/main" id="{389A61E0-7978-4313-ADA0-E17E5DFCE70C}"/>
              </a:ext>
            </a:extLst>
          </p:cNvPr>
          <p:cNvSpPr>
            <a:spLocks xmlns:a="http://schemas.openxmlformats.org/drawingml/2006/main" noGrp="1"/>
          </p:cNvSpPr>
          <p:nvPr/>
        </p:nvSpPr>
        <p:spPr>
          <a:xfrm xmlns:a="http://schemas.openxmlformats.org/drawingml/2006/main">
            <a:off x="731520" y="1005840"/>
            <a:ext cx="10515600" cy="32004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p xmlns:a="http://schemas.openxmlformats.org/drawingml/2006/main">
            <a:pPr algn="l">
              <a:buNone/>
            </a:pPr>
            <a:r>
              <a:rPr sz="1600" b="0">
                <a:solidFill>
                  <a:srgbClr val="FFFFFF"/>
                </a:solidFill>
                <a:latin typeface="Calibri"/>
                <a:ea typeface="Calibri"/>
                <a:cs typeface="Calibri"/>
              </a:rPr>
              <a:t>College of Engineering and Computer Science</a:t>
            </a:r>
          </a:p>
        </p:txBody>
      </p:sp>
      <p:sp>
        <p:nvSpPr>
          <p:cNvPr id="6" name="TextBox 5">
            <a:extLst xmlns:a="http://schemas.openxmlformats.org/drawingml/2006/main">
              <a:ext uri="{FF2B5EF4-FFF2-40B4-BE49-F238E27FC236}">
                <a16:creationId xmlns:a16="http://schemas.microsoft.com/office/drawing/2014/main" id="{3AC61252-BE54-4BF1-B1DB-476698A1C153}"/>
              </a:ext>
            </a:extLst>
          </p:cNvPr>
          <p:cNvSpPr>
            <a:spLocks xmlns:a="http://schemas.openxmlformats.org/drawingml/2006/main" noGrp="1"/>
          </p:cNvSpPr>
          <p:nvPr/>
        </p:nvSpPr>
        <p:spPr>
          <a:xfrm xmlns:a="http://schemas.openxmlformats.org/drawingml/2006/main">
            <a:off x="731520" y="1828800"/>
            <a:ext cx="10698480" cy="146304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p xmlns:a="http://schemas.openxmlformats.org/drawingml/2006/main">
            <a:pPr algn="l">
              <a:buNone/>
            </a:pPr>
            <a:r>
              <a:rPr sz="3600" b="1">
                <a:solidFill>
                  <a:srgbClr val="FFFFFF"/>
                </a:solidFill>
                <a:latin typeface="Calibri"/>
                <a:ea typeface="Calibri"/>
                <a:cs typeface="Calibri"/>
              </a:rPr>
              <a:t>Spatio-Temporal Bio-NAS for</a:t>
            </a:r>
          </a:p>
          <a:p xmlns:a="http://schemas.openxmlformats.org/drawingml/2006/main">
            <a:pPr algn="l">
              <a:buNone/>
            </a:pPr>
            <a:r>
              <a:rPr sz="3600" b="1">
                <a:solidFill>
                  <a:srgbClr val="FFFFFF"/>
                </a:solidFill>
                <a:latin typeface="Calibri"/>
                <a:ea typeface="Calibri"/>
                <a:cs typeface="Calibri"/>
              </a:rPr>
              <a:t>Multi-Omic Disease Prediction</a:t>
            </a:r>
          </a:p>
        </p:txBody>
      </p:sp>
      <p:sp>
        <p:nvSpPr>
          <p:cNvPr id="7" name="TextBox 6">
            <a:extLst xmlns:a="http://schemas.openxmlformats.org/drawingml/2006/main">
              <a:ext uri="{FF2B5EF4-FFF2-40B4-BE49-F238E27FC236}">
                <a16:creationId xmlns:a16="http://schemas.microsoft.com/office/drawing/2014/main" id="{B5570D08-53D2-4C50-8574-C19CED76BE69}"/>
              </a:ext>
            </a:extLst>
          </p:cNvPr>
          <p:cNvSpPr>
            <a:spLocks xmlns:a="http://schemas.openxmlformats.org/drawingml/2006/main" noGrp="1"/>
          </p:cNvSpPr>
          <p:nvPr/>
        </p:nvSpPr>
        <p:spPr>
          <a:xfrm xmlns:a="http://schemas.openxmlformats.org/drawingml/2006/main">
            <a:off x="731520" y="3566160"/>
            <a:ext cx="10515600" cy="64008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p xmlns:a="http://schemas.openxmlformats.org/drawingml/2006/main">
            <a:pPr algn="l">
              <a:buNone/>
            </a:pPr>
            <a:r>
              <a:rPr sz="1800" b="0">
                <a:solidFill>
                  <a:srgbClr val="CCCCCC"/>
                </a:solidFill>
                <a:latin typeface="Calibri"/>
                <a:ea typeface="Calibri"/>
                <a:cs typeface="Calibri"/>
              </a:rPr>
              <a:t>Dual-Track Neural Architecture Search Constrained by Biological Pathways</a:t>
            </a:r>
          </a:p>
        </p:txBody>
      </p:sp>
      <p:sp>
        <p:nvSpPr>
          <p:cNvPr id="8" name="TextBox 7">
            <a:extLst xmlns:a="http://schemas.openxmlformats.org/drawingml/2006/main">
              <a:ext uri="{FF2B5EF4-FFF2-40B4-BE49-F238E27FC236}">
                <a16:creationId xmlns:a16="http://schemas.microsoft.com/office/drawing/2014/main" id="{A6B45DC9-629C-4A76-B02C-A17EED7D4369}"/>
              </a:ext>
            </a:extLst>
          </p:cNvPr>
          <p:cNvSpPr>
            <a:spLocks xmlns:a="http://schemas.openxmlformats.org/drawingml/2006/main" noGrp="1"/>
          </p:cNvSpPr>
          <p:nvPr/>
        </p:nvSpPr>
        <p:spPr>
          <a:xfrm xmlns:a="http://schemas.openxmlformats.org/drawingml/2006/main">
            <a:off x="731520" y="5715000"/>
            <a:ext cx="10515600" cy="82296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p xmlns:a="http://schemas.openxmlformats.org/drawingml/2006/main">
            <a:pPr algn="l">
              <a:buNone/>
            </a:pPr>
            <a:r>
              <a:rPr sz="1600" b="1">
                <a:solidFill>
                  <a:srgbClr val="FFFFFF"/>
                </a:solidFill>
                <a:latin typeface="Calibri"/>
                <a:ea typeface="Calibri"/>
                <a:cs typeface="Calibri"/>
              </a:rPr>
              <a:t>Adam Cankaya</a:t>
            </a:r>
          </a:p>
          <a:p xmlns:a="http://schemas.openxmlformats.org/drawingml/2006/main">
            <a:pPr algn="l">
              <a:buNone/>
            </a:pPr>
            <a:r>
              <a:rPr sz="1600" b="1">
                <a:solidFill>
                  <a:srgbClr val="FFFFFF"/>
                </a:solidFill>
                <a:latin typeface="Calibri"/>
                <a:ea typeface="Calibri"/>
                <a:cs typeface="Calibri"/>
              </a:rPr>
              <a:t>acankaya2017@fau.edu  ·  Thesis Committee Introduction  ·  Fall 2026</a:t>
            </a:r>
          </a:p>
        </p:txBody>
      </p:sp>
    </p:spTree>
    <p:extLst>
      <p:ext uri="{BB962C8B-B14F-4D97-AF65-F5344CB8AC3E}">
        <p14:creationId xmlns:p14="http://schemas.microsoft.com/office/powerpoint/2010/main" val="955678281"/>
      </p:ext>
    </p:extLst>
  </p:cSld>
</p:sld>
</file>

<file path=ppt/slides/slide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0CE72F1E-6645-43C6-91AA-2899A2DB44A0}"/>
              </a:ext>
            </a:extLst>
          </p:cNvPr>
          <p:cNvSpPr>
            <a:spLocks xmlns:a="http://schemas.openxmlformats.org/drawingml/2006/main" noGrp="1"/>
          </p:cNvSpPr>
          <p:nvPr/>
        </p:nvSpPr>
        <p:spPr>
          <a:xfrm xmlns:a="http://schemas.openxmlformats.org/drawingml/2006/main">
            <a:off x="0" y="0"/>
            <a:ext cx="12191695" cy="868680"/>
          </a:xfrm>
          <a:prstGeom xmlns:a="http://schemas.openxmlformats.org/drawingml/2006/main" prst="rect">
            <a:avLst/>
          </a:prstGeom>
          <a:solidFill xmlns:a="http://schemas.openxmlformats.org/drawingml/2006/main">
            <a:srgbClr val="00336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7822FBAF-06BB-4F01-8172-DD6D388AB95B}"/>
              </a:ext>
            </a:extLst>
          </p:cNvPr>
          <p:cNvSpPr>
            <a:spLocks xmlns:a="http://schemas.openxmlformats.org/drawingml/2006/main" noGrp="1"/>
          </p:cNvSpPr>
          <p:nvPr/>
        </p:nvSpPr>
        <p:spPr>
          <a:xfrm xmlns:a="http://schemas.openxmlformats.org/drawingml/2006/main">
            <a:off x="0" y="868680"/>
            <a:ext cx="12191695" cy="73152"/>
          </a:xfrm>
          <a:prstGeom xmlns:a="http://schemas.openxmlformats.org/drawingml/2006/main" prst="rect">
            <a:avLst/>
          </a:prstGeom>
          <a:solidFill xmlns:a="http://schemas.openxmlformats.org/drawingml/2006/main">
            <a:srgbClr val="CC00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Rectangle 3">
            <a:extLst xmlns:a="http://schemas.openxmlformats.org/drawingml/2006/main">
              <a:ext uri="{FF2B5EF4-FFF2-40B4-BE49-F238E27FC236}">
                <a16:creationId xmlns:a16="http://schemas.microsoft.com/office/drawing/2014/main" id="{576B7EDD-1961-49C5-B0D3-D313CDCB600B}"/>
              </a:ext>
            </a:extLst>
          </p:cNvPr>
          <p:cNvSpPr>
            <a:spLocks xmlns:a="http://schemas.openxmlformats.org/drawingml/2006/main" noGrp="1"/>
          </p:cNvSpPr>
          <p:nvPr/>
        </p:nvSpPr>
        <p:spPr>
          <a:xfrm xmlns:a="http://schemas.openxmlformats.org/drawingml/2006/main">
            <a:off x="0" y="941832"/>
            <a:ext cx="109728" cy="5916168"/>
          </a:xfrm>
          <a:prstGeom xmlns:a="http://schemas.openxmlformats.org/drawingml/2006/main" prst="rect">
            <a:avLst/>
          </a:prstGeom>
          <a:solidFill xmlns:a="http://schemas.openxmlformats.org/drawingml/2006/main">
            <a:srgbClr val="CC00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Rectangle 4">
            <a:extLst xmlns:a="http://schemas.openxmlformats.org/drawingml/2006/main">
              <a:ext uri="{FF2B5EF4-FFF2-40B4-BE49-F238E27FC236}">
                <a16:creationId xmlns:a16="http://schemas.microsoft.com/office/drawing/2014/main" id="{117E88CE-550A-4FD7-8B20-8B273F952913}"/>
              </a:ext>
            </a:extLst>
          </p:cNvPr>
          <p:cNvSpPr>
            <a:spLocks xmlns:a="http://schemas.openxmlformats.org/drawingml/2006/main" noGrp="1"/>
          </p:cNvSpPr>
          <p:nvPr/>
        </p:nvSpPr>
        <p:spPr>
          <a:xfrm xmlns:a="http://schemas.openxmlformats.org/drawingml/2006/main">
            <a:off x="0" y="6473952"/>
            <a:ext cx="12191695" cy="384048"/>
          </a:xfrm>
          <a:prstGeom xmlns:a="http://schemas.openxmlformats.org/drawingml/2006/main" prst="rect">
            <a:avLst/>
          </a:prstGeom>
          <a:solidFill xmlns:a="http://schemas.openxmlformats.org/drawingml/2006/main">
            <a:srgbClr val="00336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CAA5E5CD-8B57-4BE4-A075-E6ED949A290D}"/>
              </a:ext>
            </a:extLst>
          </p:cNvPr>
          <p:cNvSpPr>
            <a:spLocks xmlns:a="http://schemas.openxmlformats.org/drawingml/2006/main" noGrp="1"/>
          </p:cNvSpPr>
          <p:nvPr/>
        </p:nvSpPr>
        <p:spPr>
          <a:xfrm xmlns:a="http://schemas.openxmlformats.org/drawingml/2006/main">
            <a:off x="320040" y="164592"/>
            <a:ext cx="11430000" cy="50292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p xmlns:a="http://schemas.openxmlformats.org/drawingml/2006/main">
            <a:pPr algn="l">
              <a:buNone/>
            </a:pPr>
            <a:r>
              <a:rPr sz="2600" b="1">
                <a:solidFill>
                  <a:srgbClr val="FFFFFF"/>
                </a:solidFill>
                <a:latin typeface="Calibri"/>
                <a:ea typeface="Calibri"/>
                <a:cs typeface="Calibri"/>
              </a:rPr>
              <a:t>Project Summary</a:t>
            </a:r>
          </a:p>
        </p:txBody>
      </p:sp>
      <p:sp>
        <p:nvSpPr>
          <p:cNvPr id="7" name="TextBox 6">
            <a:extLst xmlns:a="http://schemas.openxmlformats.org/drawingml/2006/main">
              <a:ext uri="{FF2B5EF4-FFF2-40B4-BE49-F238E27FC236}">
                <a16:creationId xmlns:a16="http://schemas.microsoft.com/office/drawing/2014/main" id="{DF77904B-8791-4B63-9110-3A2AAB7702C2}"/>
              </a:ext>
            </a:extLst>
          </p:cNvPr>
          <p:cNvSpPr>
            <a:spLocks xmlns:a="http://schemas.openxmlformats.org/drawingml/2006/main" noGrp="1"/>
          </p:cNvSpPr>
          <p:nvPr/>
        </p:nvSpPr>
        <p:spPr>
          <a:xfrm xmlns:a="http://schemas.openxmlformats.org/drawingml/2006/main">
            <a:off x="320040" y="6510528"/>
            <a:ext cx="7772400" cy="292608"/>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p xmlns:a="http://schemas.openxmlformats.org/drawingml/2006/main">
            <a:pPr algn="l">
              <a:buNone/>
            </a:pPr>
            <a:r>
              <a:rPr sz="1000" b="0">
                <a:solidFill>
                  <a:srgbClr val="FFFFFF"/>
                </a:solidFill>
                <a:latin typeface="Calibri"/>
                <a:ea typeface="Calibri"/>
                <a:cs typeface="Calibri"/>
              </a:rPr>
              <a:t>Adam Cankaya  ·  Florida Atlantic University  ·  College of Engineering and Computer Science</a:t>
            </a:r>
          </a:p>
        </p:txBody>
      </p:sp>
      <p:sp>
        <p:nvSpPr>
          <p:cNvPr id="8" name="TextBox 7">
            <a:extLst xmlns:a="http://schemas.openxmlformats.org/drawingml/2006/main">
              <a:ext uri="{FF2B5EF4-FFF2-40B4-BE49-F238E27FC236}">
                <a16:creationId xmlns:a16="http://schemas.microsoft.com/office/drawing/2014/main" id="{D37600A3-EF33-441D-B5DE-519D36A78C8F}"/>
              </a:ext>
            </a:extLst>
          </p:cNvPr>
          <p:cNvSpPr>
            <a:spLocks xmlns:a="http://schemas.openxmlformats.org/drawingml/2006/main" noGrp="1"/>
          </p:cNvSpPr>
          <p:nvPr/>
        </p:nvSpPr>
        <p:spPr>
          <a:xfrm xmlns:a="http://schemas.openxmlformats.org/drawingml/2006/main">
            <a:off x="8412480" y="6510528"/>
            <a:ext cx="3474720" cy="292608"/>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p xmlns:a="http://schemas.openxmlformats.org/drawingml/2006/main">
            <a:pPr algn="r">
              <a:buNone/>
            </a:pPr>
            <a:r>
              <a:rPr sz="1000" b="0">
                <a:solidFill>
                  <a:srgbClr val="CCCCCC"/>
                </a:solidFill>
                <a:latin typeface="Calibri"/>
                <a:ea typeface="Calibri"/>
                <a:cs typeface="Calibri"/>
              </a:rPr>
              <a:t>acankaya2017@fau.edu</a:t>
            </a:r>
          </a:p>
        </p:txBody>
      </p:sp>
      <p:sp>
        <p:nvSpPr>
          <p:cNvPr id="9" name="Rounded Rectangle 8">
            <a:extLst xmlns:a="http://schemas.openxmlformats.org/drawingml/2006/main">
              <a:ext uri="{FF2B5EF4-FFF2-40B4-BE49-F238E27FC236}">
                <a16:creationId xmlns:a16="http://schemas.microsoft.com/office/drawing/2014/main" id="{B4B9A578-0068-43A5-84E9-720FCF56BE12}"/>
              </a:ext>
            </a:extLst>
          </p:cNvPr>
          <p:cNvSpPr>
            <a:spLocks xmlns:a="http://schemas.openxmlformats.org/drawingml/2006/main" noGrp="1"/>
          </p:cNvSpPr>
          <p:nvPr/>
        </p:nvSpPr>
        <p:spPr>
          <a:xfrm xmlns:a="http://schemas.openxmlformats.org/drawingml/2006/main">
            <a:off x="457200" y="1234440"/>
            <a:ext cx="11247120" cy="123444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12700">
            <a:solidFill>
              <a:srgbClr val="CCCCC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848E207D-3573-471D-8D6E-867F2D2C8654}"/>
              </a:ext>
            </a:extLst>
          </p:cNvPr>
          <p:cNvSpPr>
            <a:spLocks xmlns:a="http://schemas.openxmlformats.org/drawingml/2006/main" noGrp="1"/>
          </p:cNvSpPr>
          <p:nvPr/>
        </p:nvSpPr>
        <p:spPr>
          <a:xfrm xmlns:a="http://schemas.openxmlformats.org/drawingml/2006/main">
            <a:off x="685800" y="1417320"/>
            <a:ext cx="10789920" cy="91440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p xmlns:a="http://schemas.openxmlformats.org/drawingml/2006/main">
            <a:pPr algn="ctr">
              <a:buNone/>
            </a:pPr>
            <a:r>
              <a:rPr sz="2600" b="1">
                <a:solidFill>
                  <a:srgbClr val="003366"/>
                </a:solidFill>
                <a:latin typeface="Calibri"/>
                <a:ea typeface="Calibri"/>
                <a:cs typeface="Calibri"/>
              </a:rPr>
              <a:t>Can biological priors improve multi-omic disease prediction?</a:t>
            </a:r>
          </a:p>
        </p:txBody>
      </p:sp>
      <p:sp>
        <p:nvSpPr>
          <p:cNvPr id="11" name="TextBox 10">
            <a:extLst xmlns:a="http://schemas.openxmlformats.org/drawingml/2006/main">
              <a:ext uri="{FF2B5EF4-FFF2-40B4-BE49-F238E27FC236}">
                <a16:creationId xmlns:a16="http://schemas.microsoft.com/office/drawing/2014/main" id="{9F782E6E-4FB7-442C-9CBA-A71FA1BA0496}"/>
              </a:ext>
            </a:extLst>
          </p:cNvPr>
          <p:cNvSpPr>
            <a:spLocks xmlns:a="http://schemas.openxmlformats.org/drawingml/2006/main" noGrp="1"/>
          </p:cNvSpPr>
          <p:nvPr/>
        </p:nvSpPr>
        <p:spPr>
          <a:xfrm xmlns:a="http://schemas.openxmlformats.org/drawingml/2006/main">
            <a:off x="640080" y="2743200"/>
            <a:ext cx="10789920" cy="29260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Bef>
                <a:spcPts val="200"/>
              </a:spcBef>
              <a:spcAft>
                <a:spcPts val="1000"/>
              </a:spcAft>
              <a:buNone/>
            </a:pPr>
            <a:r>
              <a:rPr sz="1800" b="0">
                <a:solidFill>
                  <a:srgbClr val="1A1A1A"/>
                </a:solidFill>
                <a:latin typeface="Calibri"/>
                <a:ea typeface="Calibri"/>
                <a:cs typeface="Calibri"/>
              </a:rPr>
              <a:t>•  Compare pathway-constrained Bio-NAS with a standard NAS control.</a:t>
            </a:r>
          </a:p>
          <a:p xmlns:a="http://schemas.openxmlformats.org/drawingml/2006/main">
            <a:pPr algn="l">
              <a:spcBef>
                <a:spcPts val="200"/>
              </a:spcBef>
              <a:spcAft>
                <a:spcPts val="1000"/>
              </a:spcAft>
              <a:buNone/>
            </a:pPr>
            <a:r>
              <a:rPr sz="1800" b="0">
                <a:solidFill>
                  <a:srgbClr val="1A1A1A"/>
                </a:solidFill>
                <a:latin typeface="Calibri"/>
                <a:ea typeface="Calibri"/>
                <a:cs typeface="Calibri"/>
              </a:rPr>
              <a:t>•  Model longitudinal multi-omic data with spatial and temporal modules.</a:t>
            </a:r>
          </a:p>
          <a:p xmlns:a="http://schemas.openxmlformats.org/drawingml/2006/main">
            <a:pPr algn="l">
              <a:spcBef>
                <a:spcPts val="200"/>
              </a:spcBef>
              <a:spcAft>
                <a:spcPts val="1000"/>
              </a:spcAft>
              <a:buNone/>
            </a:pPr>
            <a:r>
              <a:rPr sz="1800" b="0">
                <a:solidFill>
                  <a:srgbClr val="1A1A1A"/>
                </a:solidFill>
                <a:latin typeface="Calibri"/>
                <a:ea typeface="Calibri"/>
                <a:cs typeface="Calibri"/>
              </a:rPr>
              <a:t>•  Validate on BRCA first; expand only when the evidence supports it.</a:t>
            </a:r>
          </a:p>
        </p:txBody>
      </p:sp>
    </p:spTree>
    <p:extLst>
      <p:ext uri="{BB962C8B-B14F-4D97-AF65-F5344CB8AC3E}">
        <p14:creationId xmlns:p14="http://schemas.microsoft.com/office/powerpoint/2010/main" val="1981338620"/>
      </p:ext>
    </p:extLst>
  </p:cSld>
</p:sld>
</file>

<file path=ppt/slides/slide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0BA34DC8-FA8E-421B-B667-DB2DBC7D2F62}"/>
              </a:ext>
            </a:extLst>
          </p:cNvPr>
          <p:cNvSpPr>
            <a:spLocks xmlns:a="http://schemas.openxmlformats.org/drawingml/2006/main" noGrp="1"/>
          </p:cNvSpPr>
          <p:nvPr/>
        </p:nvSpPr>
        <p:spPr>
          <a:xfrm xmlns:a="http://schemas.openxmlformats.org/drawingml/2006/main">
            <a:off x="0" y="0"/>
            <a:ext cx="12191695" cy="868680"/>
          </a:xfrm>
          <a:prstGeom xmlns:a="http://schemas.openxmlformats.org/drawingml/2006/main" prst="rect">
            <a:avLst/>
          </a:prstGeom>
          <a:solidFill xmlns:a="http://schemas.openxmlformats.org/drawingml/2006/main">
            <a:srgbClr val="00336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5F2CBFA8-066F-4863-9AF6-75EA73B952A5}"/>
              </a:ext>
            </a:extLst>
          </p:cNvPr>
          <p:cNvSpPr>
            <a:spLocks xmlns:a="http://schemas.openxmlformats.org/drawingml/2006/main" noGrp="1"/>
          </p:cNvSpPr>
          <p:nvPr/>
        </p:nvSpPr>
        <p:spPr>
          <a:xfrm xmlns:a="http://schemas.openxmlformats.org/drawingml/2006/main">
            <a:off x="0" y="868680"/>
            <a:ext cx="12191695" cy="73152"/>
          </a:xfrm>
          <a:prstGeom xmlns:a="http://schemas.openxmlformats.org/drawingml/2006/main" prst="rect">
            <a:avLst/>
          </a:prstGeom>
          <a:solidFill xmlns:a="http://schemas.openxmlformats.org/drawingml/2006/main">
            <a:srgbClr val="CC00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Rectangle 3">
            <a:extLst xmlns:a="http://schemas.openxmlformats.org/drawingml/2006/main">
              <a:ext uri="{FF2B5EF4-FFF2-40B4-BE49-F238E27FC236}">
                <a16:creationId xmlns:a16="http://schemas.microsoft.com/office/drawing/2014/main" id="{9B6DBB47-2A60-4649-9D36-252AC89FF9C1}"/>
              </a:ext>
            </a:extLst>
          </p:cNvPr>
          <p:cNvSpPr>
            <a:spLocks xmlns:a="http://schemas.openxmlformats.org/drawingml/2006/main" noGrp="1"/>
          </p:cNvSpPr>
          <p:nvPr/>
        </p:nvSpPr>
        <p:spPr>
          <a:xfrm xmlns:a="http://schemas.openxmlformats.org/drawingml/2006/main">
            <a:off x="0" y="941832"/>
            <a:ext cx="109728" cy="5916168"/>
          </a:xfrm>
          <a:prstGeom xmlns:a="http://schemas.openxmlformats.org/drawingml/2006/main" prst="rect">
            <a:avLst/>
          </a:prstGeom>
          <a:solidFill xmlns:a="http://schemas.openxmlformats.org/drawingml/2006/main">
            <a:srgbClr val="CC00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Rectangle 4">
            <a:extLst xmlns:a="http://schemas.openxmlformats.org/drawingml/2006/main">
              <a:ext uri="{FF2B5EF4-FFF2-40B4-BE49-F238E27FC236}">
                <a16:creationId xmlns:a16="http://schemas.microsoft.com/office/drawing/2014/main" id="{656914EE-1834-482B-BF13-FA9E98C224C9}"/>
              </a:ext>
            </a:extLst>
          </p:cNvPr>
          <p:cNvSpPr>
            <a:spLocks xmlns:a="http://schemas.openxmlformats.org/drawingml/2006/main" noGrp="1"/>
          </p:cNvSpPr>
          <p:nvPr/>
        </p:nvSpPr>
        <p:spPr>
          <a:xfrm xmlns:a="http://schemas.openxmlformats.org/drawingml/2006/main">
            <a:off x="0" y="6473952"/>
            <a:ext cx="12191695" cy="384048"/>
          </a:xfrm>
          <a:prstGeom xmlns:a="http://schemas.openxmlformats.org/drawingml/2006/main" prst="rect">
            <a:avLst/>
          </a:prstGeom>
          <a:solidFill xmlns:a="http://schemas.openxmlformats.org/drawingml/2006/main">
            <a:srgbClr val="00336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F607756E-34E5-4CE4-B7C4-98FAA3C029F3}"/>
              </a:ext>
            </a:extLst>
          </p:cNvPr>
          <p:cNvSpPr>
            <a:spLocks xmlns:a="http://schemas.openxmlformats.org/drawingml/2006/main" noGrp="1"/>
          </p:cNvSpPr>
          <p:nvPr/>
        </p:nvSpPr>
        <p:spPr>
          <a:xfrm xmlns:a="http://schemas.openxmlformats.org/drawingml/2006/main">
            <a:off x="320040" y="164592"/>
            <a:ext cx="11430000" cy="50292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p xmlns:a="http://schemas.openxmlformats.org/drawingml/2006/main">
            <a:pPr algn="l">
              <a:buNone/>
            </a:pPr>
            <a:r>
              <a:rPr sz="2600" b="1">
                <a:solidFill>
                  <a:srgbClr val="FFFFFF"/>
                </a:solidFill>
                <a:latin typeface="Calibri"/>
                <a:ea typeface="Calibri"/>
                <a:cs typeface="Calibri"/>
              </a:rPr>
              <a:t>Expected Outputs</a:t>
            </a:r>
          </a:p>
        </p:txBody>
      </p:sp>
      <p:sp>
        <p:nvSpPr>
          <p:cNvPr id="7" name="TextBox 6">
            <a:extLst xmlns:a="http://schemas.openxmlformats.org/drawingml/2006/main">
              <a:ext uri="{FF2B5EF4-FFF2-40B4-BE49-F238E27FC236}">
                <a16:creationId xmlns:a16="http://schemas.microsoft.com/office/drawing/2014/main" id="{E542FB47-F532-46B3-84FF-9294586BD45F}"/>
              </a:ext>
            </a:extLst>
          </p:cNvPr>
          <p:cNvSpPr>
            <a:spLocks xmlns:a="http://schemas.openxmlformats.org/drawingml/2006/main" noGrp="1"/>
          </p:cNvSpPr>
          <p:nvPr/>
        </p:nvSpPr>
        <p:spPr>
          <a:xfrm xmlns:a="http://schemas.openxmlformats.org/drawingml/2006/main">
            <a:off x="320040" y="6510528"/>
            <a:ext cx="7772400" cy="292608"/>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p xmlns:a="http://schemas.openxmlformats.org/drawingml/2006/main">
            <a:pPr algn="l">
              <a:buNone/>
            </a:pPr>
            <a:r>
              <a:rPr sz="1000" b="0">
                <a:solidFill>
                  <a:srgbClr val="FFFFFF"/>
                </a:solidFill>
                <a:latin typeface="Calibri"/>
                <a:ea typeface="Calibri"/>
                <a:cs typeface="Calibri"/>
              </a:rPr>
              <a:t>Adam Cankaya  ·  Florida Atlantic University  ·  College of Engineering and Computer Science</a:t>
            </a:r>
          </a:p>
        </p:txBody>
      </p:sp>
      <p:sp>
        <p:nvSpPr>
          <p:cNvPr id="8" name="TextBox 7">
            <a:extLst xmlns:a="http://schemas.openxmlformats.org/drawingml/2006/main">
              <a:ext uri="{FF2B5EF4-FFF2-40B4-BE49-F238E27FC236}">
                <a16:creationId xmlns:a16="http://schemas.microsoft.com/office/drawing/2014/main" id="{941F4F58-16D9-4490-AA7B-F3AAF1941BE4}"/>
              </a:ext>
            </a:extLst>
          </p:cNvPr>
          <p:cNvSpPr>
            <a:spLocks xmlns:a="http://schemas.openxmlformats.org/drawingml/2006/main" noGrp="1"/>
          </p:cNvSpPr>
          <p:nvPr/>
        </p:nvSpPr>
        <p:spPr>
          <a:xfrm xmlns:a="http://schemas.openxmlformats.org/drawingml/2006/main">
            <a:off x="8412480" y="6510528"/>
            <a:ext cx="3474720" cy="292608"/>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p xmlns:a="http://schemas.openxmlformats.org/drawingml/2006/main">
            <a:pPr algn="r">
              <a:buNone/>
            </a:pPr>
            <a:r>
              <a:rPr sz="1000" b="0">
                <a:solidFill>
                  <a:srgbClr val="CCCCCC"/>
                </a:solidFill>
                <a:latin typeface="Calibri"/>
                <a:ea typeface="Calibri"/>
                <a:cs typeface="Calibri"/>
              </a:rPr>
              <a:t>acankaya2017@fau.edu</a:t>
            </a:r>
          </a:p>
        </p:txBody>
      </p:sp>
      <p:sp>
        <p:nvSpPr>
          <p:cNvPr id="9" name="Rectangle 8">
            <a:extLst xmlns:a="http://schemas.openxmlformats.org/drawingml/2006/main">
              <a:ext uri="{FF2B5EF4-FFF2-40B4-BE49-F238E27FC236}">
                <a16:creationId xmlns:a16="http://schemas.microsoft.com/office/drawing/2014/main" id="{4314C53B-DE8F-43D2-A45E-206D944A492A}"/>
              </a:ext>
            </a:extLst>
          </p:cNvPr>
          <p:cNvSpPr>
            <a:spLocks xmlns:a="http://schemas.openxmlformats.org/drawingml/2006/main" noGrp="1"/>
          </p:cNvSpPr>
          <p:nvPr/>
        </p:nvSpPr>
        <p:spPr>
          <a:xfrm xmlns:a="http://schemas.openxmlformats.org/drawingml/2006/main">
            <a:off x="457200" y="1188720"/>
            <a:ext cx="164592" cy="685800"/>
          </a:xfrm>
          <a:prstGeom xmlns:a="http://schemas.openxmlformats.org/drawingml/2006/main" prst="rect">
            <a:avLst/>
          </a:prstGeom>
          <a:solidFill xmlns:a="http://schemas.openxmlformats.org/drawingml/2006/main">
            <a:srgbClr val="00336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Rounded Rectangle 9">
            <a:extLst xmlns:a="http://schemas.openxmlformats.org/drawingml/2006/main">
              <a:ext uri="{FF2B5EF4-FFF2-40B4-BE49-F238E27FC236}">
                <a16:creationId xmlns:a16="http://schemas.microsoft.com/office/drawing/2014/main" id="{C76B6281-E9A4-4714-A86C-AAD1E1619859}"/>
              </a:ext>
            </a:extLst>
          </p:cNvPr>
          <p:cNvSpPr>
            <a:spLocks xmlns:a="http://schemas.openxmlformats.org/drawingml/2006/main" noGrp="1"/>
          </p:cNvSpPr>
          <p:nvPr/>
        </p:nvSpPr>
        <p:spPr>
          <a:xfrm xmlns:a="http://schemas.openxmlformats.org/drawingml/2006/main">
            <a:off x="640080" y="1188720"/>
            <a:ext cx="11064240" cy="68580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12700">
            <a:solidFill>
              <a:srgbClr val="CCCCC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789B9646-D355-4EA2-980A-D3A6F65701F6}"/>
              </a:ext>
            </a:extLst>
          </p:cNvPr>
          <p:cNvSpPr>
            <a:spLocks xmlns:a="http://schemas.openxmlformats.org/drawingml/2006/main" noGrp="1"/>
          </p:cNvSpPr>
          <p:nvPr/>
        </p:nvSpPr>
        <p:spPr>
          <a:xfrm xmlns:a="http://schemas.openxmlformats.org/drawingml/2006/main">
            <a:off x="868680" y="1261872"/>
            <a:ext cx="10607040" cy="292608"/>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p xmlns:a="http://schemas.openxmlformats.org/drawingml/2006/main">
            <a:pPr algn="l">
              <a:buNone/>
            </a:pPr>
            <a:r>
              <a:rPr sz="1600" b="1">
                <a:solidFill>
                  <a:srgbClr val="003366"/>
                </a:solidFill>
                <a:latin typeface="Calibri"/>
                <a:ea typeface="Calibri"/>
                <a:cs typeface="Calibri"/>
              </a:rPr>
              <a:t>Searched architectures</a:t>
            </a:r>
          </a:p>
        </p:txBody>
      </p:sp>
      <p:sp>
        <p:nvSpPr>
          <p:cNvPr id="12" name="TextBox 11">
            <a:extLst xmlns:a="http://schemas.openxmlformats.org/drawingml/2006/main">
              <a:ext uri="{FF2B5EF4-FFF2-40B4-BE49-F238E27FC236}">
                <a16:creationId xmlns:a16="http://schemas.microsoft.com/office/drawing/2014/main" id="{CF70508E-ACBF-4435-88E2-4DFD655F35AC}"/>
              </a:ext>
            </a:extLst>
          </p:cNvPr>
          <p:cNvSpPr>
            <a:spLocks xmlns:a="http://schemas.openxmlformats.org/drawingml/2006/main" noGrp="1"/>
          </p:cNvSpPr>
          <p:nvPr/>
        </p:nvSpPr>
        <p:spPr>
          <a:xfrm xmlns:a="http://schemas.openxmlformats.org/drawingml/2006/main">
            <a:off x="868680" y="1536192"/>
            <a:ext cx="10607040" cy="27432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p xmlns:a="http://schemas.openxmlformats.org/drawingml/2006/main">
            <a:pPr algn="l">
              <a:buNone/>
            </a:pPr>
            <a:r>
              <a:rPr sz="1300" b="0">
                <a:solidFill>
                  <a:srgbClr val="4A5566"/>
                </a:solidFill>
                <a:latin typeface="Calibri"/>
                <a:ea typeface="Calibri"/>
                <a:cs typeface="Calibri"/>
              </a:rPr>
              <a:t>Store architectures, constraints, hyperparameters, and trial histories for reproducibility</a:t>
            </a:r>
          </a:p>
        </p:txBody>
      </p:sp>
      <p:sp>
        <p:nvSpPr>
          <p:cNvPr id="13" name="Rectangle 12">
            <a:extLst xmlns:a="http://schemas.openxmlformats.org/drawingml/2006/main">
              <a:ext uri="{FF2B5EF4-FFF2-40B4-BE49-F238E27FC236}">
                <a16:creationId xmlns:a16="http://schemas.microsoft.com/office/drawing/2014/main" id="{85351DA8-29EC-4EF5-A2A6-2CDFAFCA363B}"/>
              </a:ext>
            </a:extLst>
          </p:cNvPr>
          <p:cNvSpPr>
            <a:spLocks xmlns:a="http://schemas.openxmlformats.org/drawingml/2006/main" noGrp="1"/>
          </p:cNvSpPr>
          <p:nvPr/>
        </p:nvSpPr>
        <p:spPr>
          <a:xfrm xmlns:a="http://schemas.openxmlformats.org/drawingml/2006/main">
            <a:off x="457200" y="2011680"/>
            <a:ext cx="164592" cy="685800"/>
          </a:xfrm>
          <a:prstGeom xmlns:a="http://schemas.openxmlformats.org/drawingml/2006/main" prst="rect">
            <a:avLst/>
          </a:prstGeom>
          <a:solidFill xmlns:a="http://schemas.openxmlformats.org/drawingml/2006/main">
            <a:srgbClr val="CC00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Rounded Rectangle 13">
            <a:extLst xmlns:a="http://schemas.openxmlformats.org/drawingml/2006/main">
              <a:ext uri="{FF2B5EF4-FFF2-40B4-BE49-F238E27FC236}">
                <a16:creationId xmlns:a16="http://schemas.microsoft.com/office/drawing/2014/main" id="{99E38A95-03DE-440E-91E9-E6133E4C68FC}"/>
              </a:ext>
            </a:extLst>
          </p:cNvPr>
          <p:cNvSpPr>
            <a:spLocks xmlns:a="http://schemas.openxmlformats.org/drawingml/2006/main" noGrp="1"/>
          </p:cNvSpPr>
          <p:nvPr/>
        </p:nvSpPr>
        <p:spPr>
          <a:xfrm xmlns:a="http://schemas.openxmlformats.org/drawingml/2006/main">
            <a:off x="640080" y="2011680"/>
            <a:ext cx="11064240" cy="68580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12700">
            <a:solidFill>
              <a:srgbClr val="CCCCC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347A644B-07AA-48FC-A37D-4C233B02D586}"/>
              </a:ext>
            </a:extLst>
          </p:cNvPr>
          <p:cNvSpPr>
            <a:spLocks xmlns:a="http://schemas.openxmlformats.org/drawingml/2006/main" noGrp="1"/>
          </p:cNvSpPr>
          <p:nvPr/>
        </p:nvSpPr>
        <p:spPr>
          <a:xfrm xmlns:a="http://schemas.openxmlformats.org/drawingml/2006/main">
            <a:off x="868680" y="2084832"/>
            <a:ext cx="10607040" cy="292608"/>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p xmlns:a="http://schemas.openxmlformats.org/drawingml/2006/main">
            <a:pPr algn="l">
              <a:buNone/>
            </a:pPr>
            <a:r>
              <a:rPr sz="1600" b="1">
                <a:solidFill>
                  <a:srgbClr val="003366"/>
                </a:solidFill>
                <a:latin typeface="Calibri"/>
                <a:ea typeface="Calibri"/>
                <a:cs typeface="Calibri"/>
              </a:rPr>
              <a:t>Reliable benchmarks</a:t>
            </a:r>
          </a:p>
        </p:txBody>
      </p:sp>
      <p:sp>
        <p:nvSpPr>
          <p:cNvPr id="16" name="TextBox 15">
            <a:extLst xmlns:a="http://schemas.openxmlformats.org/drawingml/2006/main">
              <a:ext uri="{FF2B5EF4-FFF2-40B4-BE49-F238E27FC236}">
                <a16:creationId xmlns:a16="http://schemas.microsoft.com/office/drawing/2014/main" id="{95EBA298-BD36-4CEE-8998-A279FA2A726F}"/>
              </a:ext>
            </a:extLst>
          </p:cNvPr>
          <p:cNvSpPr>
            <a:spLocks xmlns:a="http://schemas.openxmlformats.org/drawingml/2006/main" noGrp="1"/>
          </p:cNvSpPr>
          <p:nvPr/>
        </p:nvSpPr>
        <p:spPr>
          <a:xfrm xmlns:a="http://schemas.openxmlformats.org/drawingml/2006/main">
            <a:off x="868680" y="2359152"/>
            <a:ext cx="10607040" cy="27432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p xmlns:a="http://schemas.openxmlformats.org/drawingml/2006/main">
            <a:pPr algn="l">
              <a:buNone/>
            </a:pPr>
            <a:r>
              <a:rPr sz="1300" b="0">
                <a:solidFill>
                  <a:srgbClr val="4A5566"/>
                </a:solidFill>
                <a:latin typeface="Calibri"/>
                <a:ea typeface="Calibri"/>
                <a:cs typeface="Calibri"/>
              </a:rPr>
              <a:t>Compare patient-level holdout metrics, ablations, and clinical baseline models</a:t>
            </a:r>
          </a:p>
        </p:txBody>
      </p:sp>
      <p:sp>
        <p:nvSpPr>
          <p:cNvPr id="17" name="Rectangle 16">
            <a:extLst xmlns:a="http://schemas.openxmlformats.org/drawingml/2006/main">
              <a:ext uri="{FF2B5EF4-FFF2-40B4-BE49-F238E27FC236}">
                <a16:creationId xmlns:a16="http://schemas.microsoft.com/office/drawing/2014/main" id="{440FC4B8-C1EC-4082-8D5F-2C1E1F4E54F7}"/>
              </a:ext>
            </a:extLst>
          </p:cNvPr>
          <p:cNvSpPr>
            <a:spLocks xmlns:a="http://schemas.openxmlformats.org/drawingml/2006/main" noGrp="1"/>
          </p:cNvSpPr>
          <p:nvPr/>
        </p:nvSpPr>
        <p:spPr>
          <a:xfrm xmlns:a="http://schemas.openxmlformats.org/drawingml/2006/main">
            <a:off x="457200" y="2834640"/>
            <a:ext cx="164592" cy="685800"/>
          </a:xfrm>
          <a:prstGeom xmlns:a="http://schemas.openxmlformats.org/drawingml/2006/main" prst="rect">
            <a:avLst/>
          </a:prstGeom>
          <a:solidFill xmlns:a="http://schemas.openxmlformats.org/drawingml/2006/main">
            <a:srgbClr val="00336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Rounded Rectangle 17">
            <a:extLst xmlns:a="http://schemas.openxmlformats.org/drawingml/2006/main">
              <a:ext uri="{FF2B5EF4-FFF2-40B4-BE49-F238E27FC236}">
                <a16:creationId xmlns:a16="http://schemas.microsoft.com/office/drawing/2014/main" id="{A21BA25C-18F9-4220-9931-16A256DEC8F5}"/>
              </a:ext>
            </a:extLst>
          </p:cNvPr>
          <p:cNvSpPr>
            <a:spLocks xmlns:a="http://schemas.openxmlformats.org/drawingml/2006/main" noGrp="1"/>
          </p:cNvSpPr>
          <p:nvPr/>
        </p:nvSpPr>
        <p:spPr>
          <a:xfrm xmlns:a="http://schemas.openxmlformats.org/drawingml/2006/main">
            <a:off x="640080" y="2834640"/>
            <a:ext cx="11064240" cy="68580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12700">
            <a:solidFill>
              <a:srgbClr val="CCCCC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E50FC4CC-413C-4DF6-B1F6-DBB02DE1BD72}"/>
              </a:ext>
            </a:extLst>
          </p:cNvPr>
          <p:cNvSpPr>
            <a:spLocks xmlns:a="http://schemas.openxmlformats.org/drawingml/2006/main" noGrp="1"/>
          </p:cNvSpPr>
          <p:nvPr/>
        </p:nvSpPr>
        <p:spPr>
          <a:xfrm xmlns:a="http://schemas.openxmlformats.org/drawingml/2006/main">
            <a:off x="868680" y="2907792"/>
            <a:ext cx="10607040" cy="292608"/>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p xmlns:a="http://schemas.openxmlformats.org/drawingml/2006/main">
            <a:pPr algn="l">
              <a:buNone/>
            </a:pPr>
            <a:r>
              <a:rPr sz="1600" b="1">
                <a:solidFill>
                  <a:srgbClr val="003366"/>
                </a:solidFill>
                <a:latin typeface="Calibri"/>
                <a:ea typeface="Calibri"/>
                <a:cs typeface="Calibri"/>
              </a:rPr>
              <a:t>Interpretability maps</a:t>
            </a:r>
          </a:p>
        </p:txBody>
      </p:sp>
      <p:sp>
        <p:nvSpPr>
          <p:cNvPr id="20" name="TextBox 19">
            <a:extLst xmlns:a="http://schemas.openxmlformats.org/drawingml/2006/main">
              <a:ext uri="{FF2B5EF4-FFF2-40B4-BE49-F238E27FC236}">
                <a16:creationId xmlns:a16="http://schemas.microsoft.com/office/drawing/2014/main" id="{0B8145B1-9928-408C-BDDC-8A6D0F6E591D}"/>
              </a:ext>
            </a:extLst>
          </p:cNvPr>
          <p:cNvSpPr>
            <a:spLocks xmlns:a="http://schemas.openxmlformats.org/drawingml/2006/main" noGrp="1"/>
          </p:cNvSpPr>
          <p:nvPr/>
        </p:nvSpPr>
        <p:spPr>
          <a:xfrm xmlns:a="http://schemas.openxmlformats.org/drawingml/2006/main">
            <a:off x="868680" y="3182112"/>
            <a:ext cx="10607040" cy="27432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p xmlns:a="http://schemas.openxmlformats.org/drawingml/2006/main">
            <a:pPr algn="l">
              <a:buNone/>
            </a:pPr>
            <a:r>
              <a:rPr sz="1300" b="0">
                <a:solidFill>
                  <a:srgbClr val="4A5566"/>
                </a:solidFill>
                <a:latin typeface="Calibri"/>
                <a:ea typeface="Calibri"/>
                <a:cs typeface="Calibri"/>
              </a:rPr>
              <a:t>Identify CpG sites and time windows that drive predictions and trajectories</a:t>
            </a:r>
          </a:p>
        </p:txBody>
      </p:sp>
      <p:sp>
        <p:nvSpPr>
          <p:cNvPr id="21" name="Rectangle 20">
            <a:extLst xmlns:a="http://schemas.openxmlformats.org/drawingml/2006/main">
              <a:ext uri="{FF2B5EF4-FFF2-40B4-BE49-F238E27FC236}">
                <a16:creationId xmlns:a16="http://schemas.microsoft.com/office/drawing/2014/main" id="{0FB3FD35-D008-4825-9EB3-321B8512E17F}"/>
              </a:ext>
            </a:extLst>
          </p:cNvPr>
          <p:cNvSpPr>
            <a:spLocks xmlns:a="http://schemas.openxmlformats.org/drawingml/2006/main" noGrp="1"/>
          </p:cNvSpPr>
          <p:nvPr/>
        </p:nvSpPr>
        <p:spPr>
          <a:xfrm xmlns:a="http://schemas.openxmlformats.org/drawingml/2006/main">
            <a:off x="457200" y="3657600"/>
            <a:ext cx="164592" cy="685800"/>
          </a:xfrm>
          <a:prstGeom xmlns:a="http://schemas.openxmlformats.org/drawingml/2006/main" prst="rect">
            <a:avLst/>
          </a:prstGeom>
          <a:solidFill xmlns:a="http://schemas.openxmlformats.org/drawingml/2006/main">
            <a:srgbClr val="CC00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Rounded Rectangle 21">
            <a:extLst xmlns:a="http://schemas.openxmlformats.org/drawingml/2006/main">
              <a:ext uri="{FF2B5EF4-FFF2-40B4-BE49-F238E27FC236}">
                <a16:creationId xmlns:a16="http://schemas.microsoft.com/office/drawing/2014/main" id="{6C2E4E4B-186B-47B5-B510-B4C26FA4C5AB}"/>
              </a:ext>
            </a:extLst>
          </p:cNvPr>
          <p:cNvSpPr>
            <a:spLocks xmlns:a="http://schemas.openxmlformats.org/drawingml/2006/main" noGrp="1"/>
          </p:cNvSpPr>
          <p:nvPr/>
        </p:nvSpPr>
        <p:spPr>
          <a:xfrm xmlns:a="http://schemas.openxmlformats.org/drawingml/2006/main">
            <a:off x="640080" y="3657600"/>
            <a:ext cx="11064240" cy="68580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12700">
            <a:solidFill>
              <a:srgbClr val="CCCCC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D840DE41-8E00-4AF3-A57A-4068B6B9FF67}"/>
              </a:ext>
            </a:extLst>
          </p:cNvPr>
          <p:cNvSpPr>
            <a:spLocks xmlns:a="http://schemas.openxmlformats.org/drawingml/2006/main" noGrp="1"/>
          </p:cNvSpPr>
          <p:nvPr/>
        </p:nvSpPr>
        <p:spPr>
          <a:xfrm xmlns:a="http://schemas.openxmlformats.org/drawingml/2006/main">
            <a:off x="868680" y="3730752"/>
            <a:ext cx="10607040" cy="292608"/>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p xmlns:a="http://schemas.openxmlformats.org/drawingml/2006/main">
            <a:pPr algn="l">
              <a:buNone/>
            </a:pPr>
            <a:r>
              <a:rPr sz="1600" b="1">
                <a:solidFill>
                  <a:srgbClr val="003366"/>
                </a:solidFill>
                <a:latin typeface="Calibri"/>
                <a:ea typeface="Calibri"/>
                <a:cs typeface="Calibri"/>
              </a:rPr>
              <a:t>Scaling decision</a:t>
            </a:r>
          </a:p>
        </p:txBody>
      </p:sp>
      <p:sp>
        <p:nvSpPr>
          <p:cNvPr id="24" name="TextBox 23">
            <a:extLst xmlns:a="http://schemas.openxmlformats.org/drawingml/2006/main">
              <a:ext uri="{FF2B5EF4-FFF2-40B4-BE49-F238E27FC236}">
                <a16:creationId xmlns:a16="http://schemas.microsoft.com/office/drawing/2014/main" id="{893A9235-C965-4FAE-B8DF-4B2784FC398A}"/>
              </a:ext>
            </a:extLst>
          </p:cNvPr>
          <p:cNvSpPr>
            <a:spLocks xmlns:a="http://schemas.openxmlformats.org/drawingml/2006/main" noGrp="1"/>
          </p:cNvSpPr>
          <p:nvPr/>
        </p:nvSpPr>
        <p:spPr>
          <a:xfrm xmlns:a="http://schemas.openxmlformats.org/drawingml/2006/main">
            <a:off x="868680" y="4005072"/>
            <a:ext cx="10607040" cy="27432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p xmlns:a="http://schemas.openxmlformats.org/drawingml/2006/main">
            <a:pPr algn="l">
              <a:buNone/>
            </a:pPr>
            <a:r>
              <a:rPr sz="1300" b="0">
                <a:solidFill>
                  <a:srgbClr val="4A5566"/>
                </a:solidFill>
                <a:latin typeface="Calibri"/>
                <a:ea typeface="Calibri"/>
                <a:cs typeface="Calibri"/>
              </a:rPr>
              <a:t>Apply accuracy, biological coherence, and sparsity criteria before any expansion</a:t>
            </a:r>
          </a:p>
        </p:txBody>
      </p:sp>
      <p:sp>
        <p:nvSpPr>
          <p:cNvPr id="25" name="Rectangle 24">
            <a:extLst xmlns:a="http://schemas.openxmlformats.org/drawingml/2006/main">
              <a:ext uri="{FF2B5EF4-FFF2-40B4-BE49-F238E27FC236}">
                <a16:creationId xmlns:a16="http://schemas.microsoft.com/office/drawing/2014/main" id="{3771DB0F-B23C-4292-B66F-649527800841}"/>
              </a:ext>
            </a:extLst>
          </p:cNvPr>
          <p:cNvSpPr>
            <a:spLocks xmlns:a="http://schemas.openxmlformats.org/drawingml/2006/main" noGrp="1"/>
          </p:cNvSpPr>
          <p:nvPr/>
        </p:nvSpPr>
        <p:spPr>
          <a:xfrm xmlns:a="http://schemas.openxmlformats.org/drawingml/2006/main">
            <a:off x="457200" y="4480560"/>
            <a:ext cx="164592" cy="685800"/>
          </a:xfrm>
          <a:prstGeom xmlns:a="http://schemas.openxmlformats.org/drawingml/2006/main" prst="rect">
            <a:avLst/>
          </a:prstGeom>
          <a:solidFill xmlns:a="http://schemas.openxmlformats.org/drawingml/2006/main">
            <a:srgbClr val="00336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Rounded Rectangle 25">
            <a:extLst xmlns:a="http://schemas.openxmlformats.org/drawingml/2006/main">
              <a:ext uri="{FF2B5EF4-FFF2-40B4-BE49-F238E27FC236}">
                <a16:creationId xmlns:a16="http://schemas.microsoft.com/office/drawing/2014/main" id="{CF2231F7-29BF-4876-8C23-5872217FE661}"/>
              </a:ext>
            </a:extLst>
          </p:cNvPr>
          <p:cNvSpPr>
            <a:spLocks xmlns:a="http://schemas.openxmlformats.org/drawingml/2006/main" noGrp="1"/>
          </p:cNvSpPr>
          <p:nvPr/>
        </p:nvSpPr>
        <p:spPr>
          <a:xfrm xmlns:a="http://schemas.openxmlformats.org/drawingml/2006/main">
            <a:off x="640080" y="4480560"/>
            <a:ext cx="11064240" cy="68580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12700">
            <a:solidFill>
              <a:srgbClr val="CCCCC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7" name="TextBox 26">
            <a:extLst xmlns:a="http://schemas.openxmlformats.org/drawingml/2006/main">
              <a:ext uri="{FF2B5EF4-FFF2-40B4-BE49-F238E27FC236}">
                <a16:creationId xmlns:a16="http://schemas.microsoft.com/office/drawing/2014/main" id="{F9FEA7B4-5A0C-4CEF-AD70-943CED3AD6F6}"/>
              </a:ext>
            </a:extLst>
          </p:cNvPr>
          <p:cNvSpPr>
            <a:spLocks xmlns:a="http://schemas.openxmlformats.org/drawingml/2006/main" noGrp="1"/>
          </p:cNvSpPr>
          <p:nvPr/>
        </p:nvSpPr>
        <p:spPr>
          <a:xfrm xmlns:a="http://schemas.openxmlformats.org/drawingml/2006/main">
            <a:off x="868680" y="4553712"/>
            <a:ext cx="10607040" cy="292608"/>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p xmlns:a="http://schemas.openxmlformats.org/drawingml/2006/main">
            <a:pPr algn="l">
              <a:buNone/>
            </a:pPr>
            <a:r>
              <a:rPr sz="1600" b="1">
                <a:solidFill>
                  <a:srgbClr val="003366"/>
                </a:solidFill>
                <a:latin typeface="Calibri"/>
                <a:ea typeface="Calibri"/>
                <a:cs typeface="Calibri"/>
              </a:rPr>
              <a:t>Open framework</a:t>
            </a:r>
          </a:p>
        </p:txBody>
      </p:sp>
      <p:sp>
        <p:nvSpPr>
          <p:cNvPr id="28" name="TextBox 27">
            <a:extLst xmlns:a="http://schemas.openxmlformats.org/drawingml/2006/main">
              <a:ext uri="{FF2B5EF4-FFF2-40B4-BE49-F238E27FC236}">
                <a16:creationId xmlns:a16="http://schemas.microsoft.com/office/drawing/2014/main" id="{339EF856-1BFB-4F6B-9F79-9B87D201F5A7}"/>
              </a:ext>
            </a:extLst>
          </p:cNvPr>
          <p:cNvSpPr>
            <a:spLocks xmlns:a="http://schemas.openxmlformats.org/drawingml/2006/main" noGrp="1"/>
          </p:cNvSpPr>
          <p:nvPr/>
        </p:nvSpPr>
        <p:spPr>
          <a:xfrm xmlns:a="http://schemas.openxmlformats.org/drawingml/2006/main">
            <a:off x="868680" y="4828032"/>
            <a:ext cx="10607040" cy="27432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p xmlns:a="http://schemas.openxmlformats.org/drawingml/2006/main">
            <a:pPr algn="l">
              <a:buNone/>
            </a:pPr>
            <a:r>
              <a:rPr sz="1300" b="0">
                <a:solidFill>
                  <a:srgbClr val="4A5566"/>
                </a:solidFill>
                <a:latin typeface="Calibri"/>
                <a:ea typeface="Calibri"/>
                <a:cs typeface="Calibri"/>
              </a:rPr>
              <a:t>Deliver tested code, data contracts, demos, documentation, and thesis artifacts</a:t>
            </a:r>
          </a:p>
        </p:txBody>
      </p:sp>
    </p:spTree>
    <p:extLst>
      <p:ext uri="{BB962C8B-B14F-4D97-AF65-F5344CB8AC3E}">
        <p14:creationId xmlns:p14="http://schemas.microsoft.com/office/powerpoint/2010/main" val="1472326861"/>
      </p:ext>
    </p:extLst>
  </p:cSld>
</p:sld>
</file>

<file path=ppt/slides/slide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B0C3BE08-01C8-4E6D-A0BD-7E0D8FF22EE5}"/>
              </a:ext>
            </a:extLst>
          </p:cNvPr>
          <p:cNvSpPr>
            <a:spLocks xmlns:a="http://schemas.openxmlformats.org/drawingml/2006/main" noGrp="1"/>
          </p:cNvSpPr>
          <p:nvPr/>
        </p:nvSpPr>
        <p:spPr>
          <a:xfrm xmlns:a="http://schemas.openxmlformats.org/drawingml/2006/main">
            <a:off x="0" y="0"/>
            <a:ext cx="12191695" cy="868680"/>
          </a:xfrm>
          <a:prstGeom xmlns:a="http://schemas.openxmlformats.org/drawingml/2006/main" prst="rect">
            <a:avLst/>
          </a:prstGeom>
          <a:solidFill xmlns:a="http://schemas.openxmlformats.org/drawingml/2006/main">
            <a:srgbClr val="00336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9032F2AA-F4EC-4CA4-AE5A-DC4524A51106}"/>
              </a:ext>
            </a:extLst>
          </p:cNvPr>
          <p:cNvSpPr>
            <a:spLocks xmlns:a="http://schemas.openxmlformats.org/drawingml/2006/main" noGrp="1"/>
          </p:cNvSpPr>
          <p:nvPr/>
        </p:nvSpPr>
        <p:spPr>
          <a:xfrm xmlns:a="http://schemas.openxmlformats.org/drawingml/2006/main">
            <a:off x="0" y="868680"/>
            <a:ext cx="12191695" cy="73152"/>
          </a:xfrm>
          <a:prstGeom xmlns:a="http://schemas.openxmlformats.org/drawingml/2006/main" prst="rect">
            <a:avLst/>
          </a:prstGeom>
          <a:solidFill xmlns:a="http://schemas.openxmlformats.org/drawingml/2006/main">
            <a:srgbClr val="CC00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Rectangle 3">
            <a:extLst xmlns:a="http://schemas.openxmlformats.org/drawingml/2006/main">
              <a:ext uri="{FF2B5EF4-FFF2-40B4-BE49-F238E27FC236}">
                <a16:creationId xmlns:a16="http://schemas.microsoft.com/office/drawing/2014/main" id="{F7F1BE55-13F1-46E0-8809-FCCF59BE1A89}"/>
              </a:ext>
            </a:extLst>
          </p:cNvPr>
          <p:cNvSpPr>
            <a:spLocks xmlns:a="http://schemas.openxmlformats.org/drawingml/2006/main" noGrp="1"/>
          </p:cNvSpPr>
          <p:nvPr/>
        </p:nvSpPr>
        <p:spPr>
          <a:xfrm xmlns:a="http://schemas.openxmlformats.org/drawingml/2006/main">
            <a:off x="0" y="941832"/>
            <a:ext cx="109728" cy="5916168"/>
          </a:xfrm>
          <a:prstGeom xmlns:a="http://schemas.openxmlformats.org/drawingml/2006/main" prst="rect">
            <a:avLst/>
          </a:prstGeom>
          <a:solidFill xmlns:a="http://schemas.openxmlformats.org/drawingml/2006/main">
            <a:srgbClr val="CC00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Rectangle 4">
            <a:extLst xmlns:a="http://schemas.openxmlformats.org/drawingml/2006/main">
              <a:ext uri="{FF2B5EF4-FFF2-40B4-BE49-F238E27FC236}">
                <a16:creationId xmlns:a16="http://schemas.microsoft.com/office/drawing/2014/main" id="{5536BB3A-A2B9-40C9-8445-26C8F0C5D511}"/>
              </a:ext>
            </a:extLst>
          </p:cNvPr>
          <p:cNvSpPr>
            <a:spLocks xmlns:a="http://schemas.openxmlformats.org/drawingml/2006/main" noGrp="1"/>
          </p:cNvSpPr>
          <p:nvPr/>
        </p:nvSpPr>
        <p:spPr>
          <a:xfrm xmlns:a="http://schemas.openxmlformats.org/drawingml/2006/main">
            <a:off x="0" y="6473952"/>
            <a:ext cx="12191695" cy="384048"/>
          </a:xfrm>
          <a:prstGeom xmlns:a="http://schemas.openxmlformats.org/drawingml/2006/main" prst="rect">
            <a:avLst/>
          </a:prstGeom>
          <a:solidFill xmlns:a="http://schemas.openxmlformats.org/drawingml/2006/main">
            <a:srgbClr val="00336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B124790E-387F-4540-9E4A-FC012691BCCF}"/>
              </a:ext>
            </a:extLst>
          </p:cNvPr>
          <p:cNvSpPr>
            <a:spLocks xmlns:a="http://schemas.openxmlformats.org/drawingml/2006/main" noGrp="1"/>
          </p:cNvSpPr>
          <p:nvPr/>
        </p:nvSpPr>
        <p:spPr>
          <a:xfrm xmlns:a="http://schemas.openxmlformats.org/drawingml/2006/main">
            <a:off x="320040" y="164592"/>
            <a:ext cx="11430000" cy="50292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p xmlns:a="http://schemas.openxmlformats.org/drawingml/2006/main">
            <a:pPr algn="l">
              <a:buNone/>
            </a:pPr>
            <a:r>
              <a:rPr sz="2600" b="1">
                <a:solidFill>
                  <a:srgbClr val="FFFFFF"/>
                </a:solidFill>
                <a:latin typeface="Calibri"/>
                <a:ea typeface="Calibri"/>
                <a:cs typeface="Calibri"/>
              </a:rPr>
              <a:t>Expected Inputs &amp; Data Sources</a:t>
            </a:r>
          </a:p>
        </p:txBody>
      </p:sp>
      <p:sp>
        <p:nvSpPr>
          <p:cNvPr id="7" name="TextBox 6">
            <a:extLst xmlns:a="http://schemas.openxmlformats.org/drawingml/2006/main">
              <a:ext uri="{FF2B5EF4-FFF2-40B4-BE49-F238E27FC236}">
                <a16:creationId xmlns:a16="http://schemas.microsoft.com/office/drawing/2014/main" id="{DB1651B3-91CF-495D-AC58-C34A7B230447}"/>
              </a:ext>
            </a:extLst>
          </p:cNvPr>
          <p:cNvSpPr>
            <a:spLocks xmlns:a="http://schemas.openxmlformats.org/drawingml/2006/main" noGrp="1"/>
          </p:cNvSpPr>
          <p:nvPr/>
        </p:nvSpPr>
        <p:spPr>
          <a:xfrm xmlns:a="http://schemas.openxmlformats.org/drawingml/2006/main">
            <a:off x="320040" y="530352"/>
            <a:ext cx="11430000" cy="292608"/>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p xmlns:a="http://schemas.openxmlformats.org/drawingml/2006/main">
            <a:pPr algn="l">
              <a:buNone/>
            </a:pPr>
            <a:r>
              <a:rPr sz="1200" b="0">
                <a:solidFill>
                  <a:srgbClr val="CCCCCC"/>
                </a:solidFill>
                <a:latin typeface="Calibri"/>
                <a:ea typeface="Calibri"/>
                <a:cs typeface="Calibri"/>
              </a:rPr>
              <a:t>Longitudinal molecular, clinical, and biological-prior inputs for a BRCA-first study</a:t>
            </a:r>
          </a:p>
        </p:txBody>
      </p:sp>
      <p:sp>
        <p:nvSpPr>
          <p:cNvPr id="8" name="TextBox 7">
            <a:extLst xmlns:a="http://schemas.openxmlformats.org/drawingml/2006/main">
              <a:ext uri="{FF2B5EF4-FFF2-40B4-BE49-F238E27FC236}">
                <a16:creationId xmlns:a16="http://schemas.microsoft.com/office/drawing/2014/main" id="{7D66573A-6B68-418D-9202-3F893BE01CC3}"/>
              </a:ext>
            </a:extLst>
          </p:cNvPr>
          <p:cNvSpPr>
            <a:spLocks xmlns:a="http://schemas.openxmlformats.org/drawingml/2006/main" noGrp="1"/>
          </p:cNvSpPr>
          <p:nvPr/>
        </p:nvSpPr>
        <p:spPr>
          <a:xfrm xmlns:a="http://schemas.openxmlformats.org/drawingml/2006/main">
            <a:off x="320040" y="6510528"/>
            <a:ext cx="7772400" cy="292608"/>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p xmlns:a="http://schemas.openxmlformats.org/drawingml/2006/main">
            <a:pPr algn="l">
              <a:buNone/>
            </a:pPr>
            <a:r>
              <a:rPr sz="1000" b="0">
                <a:solidFill>
                  <a:srgbClr val="FFFFFF"/>
                </a:solidFill>
                <a:latin typeface="Calibri"/>
                <a:ea typeface="Calibri"/>
                <a:cs typeface="Calibri"/>
              </a:rPr>
              <a:t>Adam Cankaya  ·  Florida Atlantic University  ·  College of Engineering and Computer Science</a:t>
            </a:r>
          </a:p>
        </p:txBody>
      </p:sp>
      <p:sp>
        <p:nvSpPr>
          <p:cNvPr id="9" name="TextBox 8">
            <a:extLst xmlns:a="http://schemas.openxmlformats.org/drawingml/2006/main">
              <a:ext uri="{FF2B5EF4-FFF2-40B4-BE49-F238E27FC236}">
                <a16:creationId xmlns:a16="http://schemas.microsoft.com/office/drawing/2014/main" id="{C90F042A-FF50-4463-BF6E-3C33887646EA}"/>
              </a:ext>
            </a:extLst>
          </p:cNvPr>
          <p:cNvSpPr>
            <a:spLocks xmlns:a="http://schemas.openxmlformats.org/drawingml/2006/main" noGrp="1"/>
          </p:cNvSpPr>
          <p:nvPr/>
        </p:nvSpPr>
        <p:spPr>
          <a:xfrm xmlns:a="http://schemas.openxmlformats.org/drawingml/2006/main">
            <a:off x="8412480" y="6510528"/>
            <a:ext cx="3474720" cy="292608"/>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p xmlns:a="http://schemas.openxmlformats.org/drawingml/2006/main">
            <a:pPr algn="r">
              <a:buNone/>
            </a:pPr>
            <a:r>
              <a:rPr sz="1000" b="0">
                <a:solidFill>
                  <a:srgbClr val="CCCCCC"/>
                </a:solidFill>
                <a:latin typeface="Calibri"/>
                <a:ea typeface="Calibri"/>
                <a:cs typeface="Calibri"/>
              </a:rPr>
              <a:t>acankaya2017@fau.edu</a:t>
            </a:r>
          </a:p>
        </p:txBody>
      </p:sp>
      <p:sp>
        <p:nvSpPr>
          <p:cNvPr id="10" name="Rectangle 9">
            <a:extLst xmlns:a="http://schemas.openxmlformats.org/drawingml/2006/main">
              <a:ext uri="{FF2B5EF4-FFF2-40B4-BE49-F238E27FC236}">
                <a16:creationId xmlns:a16="http://schemas.microsoft.com/office/drawing/2014/main" id="{90965451-DADA-4975-B83D-27032B2F4FC4}"/>
              </a:ext>
            </a:extLst>
          </p:cNvPr>
          <p:cNvSpPr>
            <a:spLocks xmlns:a="http://schemas.openxmlformats.org/drawingml/2006/main" noGrp="1"/>
          </p:cNvSpPr>
          <p:nvPr/>
        </p:nvSpPr>
        <p:spPr>
          <a:xfrm xmlns:a="http://schemas.openxmlformats.org/drawingml/2006/main">
            <a:off x="457200" y="1234440"/>
            <a:ext cx="11247120" cy="457200"/>
          </a:xfrm>
          <a:prstGeom xmlns:a="http://schemas.openxmlformats.org/drawingml/2006/main" prst="rect">
            <a:avLst/>
          </a:prstGeom>
          <a:solidFill xmlns:a="http://schemas.openxmlformats.org/drawingml/2006/main">
            <a:srgbClr val="00336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72E5595D-8E0F-4A97-A5EC-9ED2C6FABB29}"/>
              </a:ext>
            </a:extLst>
          </p:cNvPr>
          <p:cNvSpPr>
            <a:spLocks xmlns:a="http://schemas.openxmlformats.org/drawingml/2006/main" noGrp="1"/>
          </p:cNvSpPr>
          <p:nvPr/>
        </p:nvSpPr>
        <p:spPr>
          <a:xfrm xmlns:a="http://schemas.openxmlformats.org/drawingml/2006/main">
            <a:off x="548640" y="1307592"/>
            <a:ext cx="2606040" cy="32004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p xmlns:a="http://schemas.openxmlformats.org/drawingml/2006/main">
            <a:pPr algn="l">
              <a:buNone/>
            </a:pPr>
            <a:r>
              <a:rPr sz="1400" b="1">
                <a:solidFill>
                  <a:srgbClr val="FFFFFF"/>
                </a:solidFill>
                <a:latin typeface="Calibri"/>
                <a:ea typeface="Calibri"/>
                <a:cs typeface="Calibri"/>
              </a:rPr>
              <a:t>Input layer</a:t>
            </a:r>
          </a:p>
        </p:txBody>
      </p:sp>
      <p:sp>
        <p:nvSpPr>
          <p:cNvPr id="12" name="TextBox 11">
            <a:extLst xmlns:a="http://schemas.openxmlformats.org/drawingml/2006/main">
              <a:ext uri="{FF2B5EF4-FFF2-40B4-BE49-F238E27FC236}">
                <a16:creationId xmlns:a16="http://schemas.microsoft.com/office/drawing/2014/main" id="{05A53ED0-4976-4E9C-8341-940B43DBF0DB}"/>
              </a:ext>
            </a:extLst>
          </p:cNvPr>
          <p:cNvSpPr>
            <a:spLocks xmlns:a="http://schemas.openxmlformats.org/drawingml/2006/main" noGrp="1"/>
          </p:cNvSpPr>
          <p:nvPr/>
        </p:nvSpPr>
        <p:spPr>
          <a:xfrm xmlns:a="http://schemas.openxmlformats.org/drawingml/2006/main">
            <a:off x="3383280" y="1307592"/>
            <a:ext cx="4160520" cy="32004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p xmlns:a="http://schemas.openxmlformats.org/drawingml/2006/main">
            <a:pPr algn="l">
              <a:buNone/>
            </a:pPr>
            <a:r>
              <a:rPr sz="1400" b="1">
                <a:solidFill>
                  <a:srgbClr val="FFFFFF"/>
                </a:solidFill>
                <a:latin typeface="Calibri"/>
                <a:ea typeface="Calibri"/>
                <a:cs typeface="Calibri"/>
              </a:rPr>
              <a:t>Examples</a:t>
            </a:r>
          </a:p>
        </p:txBody>
      </p:sp>
      <p:sp>
        <p:nvSpPr>
          <p:cNvPr id="13" name="TextBox 12">
            <a:extLst xmlns:a="http://schemas.openxmlformats.org/drawingml/2006/main">
              <a:ext uri="{FF2B5EF4-FFF2-40B4-BE49-F238E27FC236}">
                <a16:creationId xmlns:a16="http://schemas.microsoft.com/office/drawing/2014/main" id="{6CBA07AC-6948-490D-B666-C1ACBBAB985E}"/>
              </a:ext>
            </a:extLst>
          </p:cNvPr>
          <p:cNvSpPr>
            <a:spLocks xmlns:a="http://schemas.openxmlformats.org/drawingml/2006/main" noGrp="1"/>
          </p:cNvSpPr>
          <p:nvPr/>
        </p:nvSpPr>
        <p:spPr>
          <a:xfrm xmlns:a="http://schemas.openxmlformats.org/drawingml/2006/main">
            <a:off x="7772400" y="1307592"/>
            <a:ext cx="3886200" cy="32004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p xmlns:a="http://schemas.openxmlformats.org/drawingml/2006/main">
            <a:pPr algn="l">
              <a:buNone/>
            </a:pPr>
            <a:r>
              <a:rPr sz="1400" b="1">
                <a:solidFill>
                  <a:srgbClr val="FFFFFF"/>
                </a:solidFill>
                <a:latin typeface="Calibri"/>
                <a:ea typeface="Calibri"/>
                <a:cs typeface="Calibri"/>
              </a:rPr>
              <a:t>Primary source</a:t>
            </a:r>
          </a:p>
        </p:txBody>
      </p:sp>
      <p:sp>
        <p:nvSpPr>
          <p:cNvPr id="14" name="Rectangle 13">
            <a:extLst xmlns:a="http://schemas.openxmlformats.org/drawingml/2006/main">
              <a:ext uri="{FF2B5EF4-FFF2-40B4-BE49-F238E27FC236}">
                <a16:creationId xmlns:a16="http://schemas.microsoft.com/office/drawing/2014/main" id="{04321093-7C63-4115-B20B-2034B896A7A7}"/>
              </a:ext>
            </a:extLst>
          </p:cNvPr>
          <p:cNvSpPr>
            <a:spLocks xmlns:a="http://schemas.openxmlformats.org/drawingml/2006/main" noGrp="1"/>
          </p:cNvSpPr>
          <p:nvPr/>
        </p:nvSpPr>
        <p:spPr>
          <a:xfrm xmlns:a="http://schemas.openxmlformats.org/drawingml/2006/main">
            <a:off x="457200" y="1691640"/>
            <a:ext cx="11247120" cy="658368"/>
          </a:xfrm>
          <a:prstGeom xmlns:a="http://schemas.openxmlformats.org/drawingml/2006/main" prst="rect">
            <a:avLst/>
          </a:prstGeom>
          <a:solidFill xmlns:a="http://schemas.openxmlformats.org/drawingml/2006/main">
            <a:srgbClr val="FFFFFF"/>
          </a:solidFill>
          <a:ln xmlns:a="http://schemas.openxmlformats.org/drawingml/2006/main" w="9525">
            <a:solidFill>
              <a:srgbClr val="CCCCC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960C4E16-431C-4E12-B176-62894066C21B}"/>
              </a:ext>
            </a:extLst>
          </p:cNvPr>
          <p:cNvSpPr>
            <a:spLocks xmlns:a="http://schemas.openxmlformats.org/drawingml/2006/main" noGrp="1"/>
          </p:cNvSpPr>
          <p:nvPr/>
        </p:nvSpPr>
        <p:spPr>
          <a:xfrm xmlns:a="http://schemas.openxmlformats.org/drawingml/2006/main">
            <a:off x="548640" y="1856232"/>
            <a:ext cx="2606040" cy="36576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p xmlns:a="http://schemas.openxmlformats.org/drawingml/2006/main">
            <a:pPr algn="l">
              <a:buNone/>
            </a:pPr>
            <a:r>
              <a:rPr sz="1400" b="1">
                <a:solidFill>
                  <a:srgbClr val="CC0000"/>
                </a:solidFill>
                <a:latin typeface="Calibri"/>
                <a:ea typeface="Calibri"/>
                <a:cs typeface="Calibri"/>
              </a:rPr>
              <a:t>Molecular profiles</a:t>
            </a:r>
          </a:p>
        </p:txBody>
      </p:sp>
      <p:sp>
        <p:nvSpPr>
          <p:cNvPr id="16" name="TextBox 15">
            <a:extLst xmlns:a="http://schemas.openxmlformats.org/drawingml/2006/main">
              <a:ext uri="{FF2B5EF4-FFF2-40B4-BE49-F238E27FC236}">
                <a16:creationId xmlns:a16="http://schemas.microsoft.com/office/drawing/2014/main" id="{574BCA9B-5BAB-4237-9531-B21CAAF8FB03}"/>
              </a:ext>
            </a:extLst>
          </p:cNvPr>
          <p:cNvSpPr>
            <a:spLocks xmlns:a="http://schemas.openxmlformats.org/drawingml/2006/main" noGrp="1"/>
          </p:cNvSpPr>
          <p:nvPr/>
        </p:nvSpPr>
        <p:spPr>
          <a:xfrm xmlns:a="http://schemas.openxmlformats.org/drawingml/2006/main">
            <a:off x="3383280" y="1856232"/>
            <a:ext cx="4160520" cy="36576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p xmlns:a="http://schemas.openxmlformats.org/drawingml/2006/main">
            <a:pPr algn="l">
              <a:buNone/>
            </a:pPr>
            <a:r>
              <a:rPr sz="1400" b="1">
                <a:solidFill>
                  <a:srgbClr val="1A1A1A"/>
                </a:solidFill>
                <a:latin typeface="Calibri"/>
                <a:ea typeface="Calibri"/>
                <a:cs typeface="Calibri"/>
              </a:rPr>
              <a:t>Methylation · RNA-seq · CNV / mutations</a:t>
            </a:r>
          </a:p>
        </p:txBody>
      </p:sp>
      <p:sp>
        <p:nvSpPr>
          <p:cNvPr id="17" name="TextBox 16">
            <a:extLst xmlns:a="http://schemas.openxmlformats.org/drawingml/2006/main">
              <a:ext uri="{FF2B5EF4-FFF2-40B4-BE49-F238E27FC236}">
                <a16:creationId xmlns:a16="http://schemas.microsoft.com/office/drawing/2014/main" id="{F8B8F367-2B14-475A-9D84-820CDB966920}"/>
              </a:ext>
            </a:extLst>
          </p:cNvPr>
          <p:cNvSpPr>
            <a:spLocks xmlns:a="http://schemas.openxmlformats.org/drawingml/2006/main" noGrp="1"/>
          </p:cNvSpPr>
          <p:nvPr/>
        </p:nvSpPr>
        <p:spPr>
          <a:xfrm xmlns:a="http://schemas.openxmlformats.org/drawingml/2006/main">
            <a:off x="7772400" y="1856232"/>
            <a:ext cx="3886200" cy="36576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p xmlns:a="http://schemas.openxmlformats.org/drawingml/2006/main">
            <a:pPr algn="l">
              <a:buNone/>
            </a:pPr>
            <a:r>
              <a:rPr sz="1400" b="0">
                <a:solidFill>
                  <a:srgbClr val="4A5566"/>
                </a:solidFill>
                <a:latin typeface="Calibri"/>
                <a:ea typeface="Calibri"/>
                <a:cs typeface="Calibri"/>
              </a:rPr>
              <a:t>TCGA / GDC</a:t>
            </a:r>
          </a:p>
        </p:txBody>
      </p:sp>
      <p:sp>
        <p:nvSpPr>
          <p:cNvPr id="18" name="Rectangle 17">
            <a:extLst xmlns:a="http://schemas.openxmlformats.org/drawingml/2006/main">
              <a:ext uri="{FF2B5EF4-FFF2-40B4-BE49-F238E27FC236}">
                <a16:creationId xmlns:a16="http://schemas.microsoft.com/office/drawing/2014/main" id="{0C2D2DB6-3C20-4E38-8566-B998189D746A}"/>
              </a:ext>
            </a:extLst>
          </p:cNvPr>
          <p:cNvSpPr>
            <a:spLocks xmlns:a="http://schemas.openxmlformats.org/drawingml/2006/main" noGrp="1"/>
          </p:cNvSpPr>
          <p:nvPr/>
        </p:nvSpPr>
        <p:spPr>
          <a:xfrm xmlns:a="http://schemas.openxmlformats.org/drawingml/2006/main">
            <a:off x="457200" y="2350008"/>
            <a:ext cx="11247120" cy="658368"/>
          </a:xfrm>
          <a:prstGeom xmlns:a="http://schemas.openxmlformats.org/drawingml/2006/main" prst="rect">
            <a:avLst/>
          </a:prstGeom>
          <a:solidFill xmlns:a="http://schemas.openxmlformats.org/drawingml/2006/main">
            <a:srgbClr val="EEF2F7"/>
          </a:solidFill>
          <a:ln xmlns:a="http://schemas.openxmlformats.org/drawingml/2006/main" w="9525">
            <a:solidFill>
              <a:srgbClr val="CCCCC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A110301E-0463-48C2-B863-5E3C72BB9077}"/>
              </a:ext>
            </a:extLst>
          </p:cNvPr>
          <p:cNvSpPr>
            <a:spLocks xmlns:a="http://schemas.openxmlformats.org/drawingml/2006/main" noGrp="1"/>
          </p:cNvSpPr>
          <p:nvPr/>
        </p:nvSpPr>
        <p:spPr>
          <a:xfrm xmlns:a="http://schemas.openxmlformats.org/drawingml/2006/main">
            <a:off x="548640" y="2514600"/>
            <a:ext cx="2606040" cy="36576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p xmlns:a="http://schemas.openxmlformats.org/drawingml/2006/main">
            <a:pPr algn="l">
              <a:buNone/>
            </a:pPr>
            <a:r>
              <a:rPr sz="1400" b="1">
                <a:solidFill>
                  <a:srgbClr val="003366"/>
                </a:solidFill>
                <a:latin typeface="Calibri"/>
                <a:ea typeface="Calibri"/>
                <a:cs typeface="Calibri"/>
              </a:rPr>
              <a:t>Clinical trajectory</a:t>
            </a:r>
          </a:p>
        </p:txBody>
      </p:sp>
      <p:sp>
        <p:nvSpPr>
          <p:cNvPr id="20" name="TextBox 19">
            <a:extLst xmlns:a="http://schemas.openxmlformats.org/drawingml/2006/main">
              <a:ext uri="{FF2B5EF4-FFF2-40B4-BE49-F238E27FC236}">
                <a16:creationId xmlns:a16="http://schemas.microsoft.com/office/drawing/2014/main" id="{BEB87180-A765-45C0-AC7B-1EC0B2F25DAF}"/>
              </a:ext>
            </a:extLst>
          </p:cNvPr>
          <p:cNvSpPr>
            <a:spLocks xmlns:a="http://schemas.openxmlformats.org/drawingml/2006/main" noGrp="1"/>
          </p:cNvSpPr>
          <p:nvPr/>
        </p:nvSpPr>
        <p:spPr>
          <a:xfrm xmlns:a="http://schemas.openxmlformats.org/drawingml/2006/main">
            <a:off x="3383280" y="2514600"/>
            <a:ext cx="4160520" cy="36576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p xmlns:a="http://schemas.openxmlformats.org/drawingml/2006/main">
            <a:pPr algn="l">
              <a:buNone/>
            </a:pPr>
            <a:r>
              <a:rPr sz="1400" b="1">
                <a:solidFill>
                  <a:srgbClr val="1A1A1A"/>
                </a:solidFill>
                <a:latin typeface="Calibri"/>
                <a:ea typeface="Calibri"/>
                <a:cs typeface="Calibri"/>
              </a:rPr>
              <a:t>Demographics · staging · visit time</a:t>
            </a:r>
          </a:p>
        </p:txBody>
      </p:sp>
      <p:sp>
        <p:nvSpPr>
          <p:cNvPr id="21" name="TextBox 20">
            <a:extLst xmlns:a="http://schemas.openxmlformats.org/drawingml/2006/main">
              <a:ext uri="{FF2B5EF4-FFF2-40B4-BE49-F238E27FC236}">
                <a16:creationId xmlns:a16="http://schemas.microsoft.com/office/drawing/2014/main" id="{C53FB970-6759-4C21-ADC4-B3FB8EB34F37}"/>
              </a:ext>
            </a:extLst>
          </p:cNvPr>
          <p:cNvSpPr>
            <a:spLocks xmlns:a="http://schemas.openxmlformats.org/drawingml/2006/main" noGrp="1"/>
          </p:cNvSpPr>
          <p:nvPr/>
        </p:nvSpPr>
        <p:spPr>
          <a:xfrm xmlns:a="http://schemas.openxmlformats.org/drawingml/2006/main">
            <a:off x="7772400" y="2514600"/>
            <a:ext cx="3886200" cy="36576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p xmlns:a="http://schemas.openxmlformats.org/drawingml/2006/main">
            <a:pPr algn="l">
              <a:buNone/>
            </a:pPr>
            <a:r>
              <a:rPr sz="1400" b="0">
                <a:solidFill>
                  <a:srgbClr val="4A5566"/>
                </a:solidFill>
                <a:latin typeface="Calibri"/>
                <a:ea typeface="Calibri"/>
                <a:cs typeface="Calibri"/>
              </a:rPr>
              <a:t>GDC; ADNI (controlled access)</a:t>
            </a:r>
          </a:p>
        </p:txBody>
      </p:sp>
      <p:sp>
        <p:nvSpPr>
          <p:cNvPr id="22" name="Rectangle 21">
            <a:extLst xmlns:a="http://schemas.openxmlformats.org/drawingml/2006/main">
              <a:ext uri="{FF2B5EF4-FFF2-40B4-BE49-F238E27FC236}">
                <a16:creationId xmlns:a16="http://schemas.microsoft.com/office/drawing/2014/main" id="{980E5B4A-027A-4BE9-BACF-7C4451111659}"/>
              </a:ext>
            </a:extLst>
          </p:cNvPr>
          <p:cNvSpPr>
            <a:spLocks xmlns:a="http://schemas.openxmlformats.org/drawingml/2006/main" noGrp="1"/>
          </p:cNvSpPr>
          <p:nvPr/>
        </p:nvSpPr>
        <p:spPr>
          <a:xfrm xmlns:a="http://schemas.openxmlformats.org/drawingml/2006/main">
            <a:off x="457200" y="3008376"/>
            <a:ext cx="11247120" cy="658368"/>
          </a:xfrm>
          <a:prstGeom xmlns:a="http://schemas.openxmlformats.org/drawingml/2006/main" prst="rect">
            <a:avLst/>
          </a:prstGeom>
          <a:solidFill xmlns:a="http://schemas.openxmlformats.org/drawingml/2006/main">
            <a:srgbClr val="FFFFFF"/>
          </a:solidFill>
          <a:ln xmlns:a="http://schemas.openxmlformats.org/drawingml/2006/main" w="9525">
            <a:solidFill>
              <a:srgbClr val="CCCCC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27A3B5ED-DCAA-4F00-B034-FA167D11AE71}"/>
              </a:ext>
            </a:extLst>
          </p:cNvPr>
          <p:cNvSpPr>
            <a:spLocks xmlns:a="http://schemas.openxmlformats.org/drawingml/2006/main" noGrp="1"/>
          </p:cNvSpPr>
          <p:nvPr/>
        </p:nvSpPr>
        <p:spPr>
          <a:xfrm xmlns:a="http://schemas.openxmlformats.org/drawingml/2006/main">
            <a:off x="548640" y="3172968"/>
            <a:ext cx="2606040" cy="36576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p xmlns:a="http://schemas.openxmlformats.org/drawingml/2006/main">
            <a:pPr algn="l">
              <a:buNone/>
            </a:pPr>
            <a:r>
              <a:rPr sz="1400" b="1">
                <a:solidFill>
                  <a:srgbClr val="003366"/>
                </a:solidFill>
                <a:latin typeface="Calibri"/>
                <a:ea typeface="Calibri"/>
                <a:cs typeface="Calibri"/>
              </a:rPr>
              <a:t>Biological priors</a:t>
            </a:r>
          </a:p>
        </p:txBody>
      </p:sp>
      <p:sp>
        <p:nvSpPr>
          <p:cNvPr id="24" name="TextBox 23">
            <a:extLst xmlns:a="http://schemas.openxmlformats.org/drawingml/2006/main">
              <a:ext uri="{FF2B5EF4-FFF2-40B4-BE49-F238E27FC236}">
                <a16:creationId xmlns:a16="http://schemas.microsoft.com/office/drawing/2014/main" id="{0A36B95E-35AE-4C7D-A771-A839FEB78CBE}"/>
              </a:ext>
            </a:extLst>
          </p:cNvPr>
          <p:cNvSpPr>
            <a:spLocks xmlns:a="http://schemas.openxmlformats.org/drawingml/2006/main" noGrp="1"/>
          </p:cNvSpPr>
          <p:nvPr/>
        </p:nvSpPr>
        <p:spPr>
          <a:xfrm xmlns:a="http://schemas.openxmlformats.org/drawingml/2006/main">
            <a:off x="3383280" y="3172968"/>
            <a:ext cx="4160520" cy="36576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p xmlns:a="http://schemas.openxmlformats.org/drawingml/2006/main">
            <a:pPr algn="l">
              <a:buNone/>
            </a:pPr>
            <a:r>
              <a:rPr sz="1400" b="1">
                <a:solidFill>
                  <a:srgbClr val="1A1A1A"/>
                </a:solidFill>
                <a:latin typeface="Calibri"/>
                <a:ea typeface="Calibri"/>
                <a:cs typeface="Calibri"/>
              </a:rPr>
              <a:t>Pathway and interaction networks</a:t>
            </a:r>
          </a:p>
        </p:txBody>
      </p:sp>
      <p:sp>
        <p:nvSpPr>
          <p:cNvPr id="25" name="TextBox 24">
            <a:extLst xmlns:a="http://schemas.openxmlformats.org/drawingml/2006/main">
              <a:ext uri="{FF2B5EF4-FFF2-40B4-BE49-F238E27FC236}">
                <a16:creationId xmlns:a16="http://schemas.microsoft.com/office/drawing/2014/main" id="{605C9E9F-308A-4696-9E49-90170F8B43CC}"/>
              </a:ext>
            </a:extLst>
          </p:cNvPr>
          <p:cNvSpPr>
            <a:spLocks xmlns:a="http://schemas.openxmlformats.org/drawingml/2006/main" noGrp="1"/>
          </p:cNvSpPr>
          <p:nvPr/>
        </p:nvSpPr>
        <p:spPr>
          <a:xfrm xmlns:a="http://schemas.openxmlformats.org/drawingml/2006/main">
            <a:off x="7772400" y="3172968"/>
            <a:ext cx="3886200" cy="36576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p xmlns:a="http://schemas.openxmlformats.org/drawingml/2006/main">
            <a:pPr algn="l">
              <a:buNone/>
            </a:pPr>
            <a:r>
              <a:rPr sz="1400" b="0">
                <a:solidFill>
                  <a:srgbClr val="4A5566"/>
                </a:solidFill>
                <a:latin typeface="Calibri"/>
                <a:ea typeface="Calibri"/>
                <a:cs typeface="Calibri"/>
              </a:rPr>
              <a:t>KEGG · Reactome</a:t>
            </a:r>
          </a:p>
        </p:txBody>
      </p:sp>
      <p:sp>
        <p:nvSpPr>
          <p:cNvPr id="26" name="Rectangle 25">
            <a:extLst xmlns:a="http://schemas.openxmlformats.org/drawingml/2006/main">
              <a:ext uri="{FF2B5EF4-FFF2-40B4-BE49-F238E27FC236}">
                <a16:creationId xmlns:a16="http://schemas.microsoft.com/office/drawing/2014/main" id="{73170B1C-796B-4E44-AAFF-3F882670E66F}"/>
              </a:ext>
            </a:extLst>
          </p:cNvPr>
          <p:cNvSpPr>
            <a:spLocks xmlns:a="http://schemas.openxmlformats.org/drawingml/2006/main" noGrp="1"/>
          </p:cNvSpPr>
          <p:nvPr/>
        </p:nvSpPr>
        <p:spPr>
          <a:xfrm xmlns:a="http://schemas.openxmlformats.org/drawingml/2006/main">
            <a:off x="457200" y="3666744"/>
            <a:ext cx="11247120" cy="658368"/>
          </a:xfrm>
          <a:prstGeom xmlns:a="http://schemas.openxmlformats.org/drawingml/2006/main" prst="rect">
            <a:avLst/>
          </a:prstGeom>
          <a:solidFill xmlns:a="http://schemas.openxmlformats.org/drawingml/2006/main">
            <a:srgbClr val="EEF2F7"/>
          </a:solidFill>
          <a:ln xmlns:a="http://schemas.openxmlformats.org/drawingml/2006/main" w="9525">
            <a:solidFill>
              <a:srgbClr val="CCCCC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7" name="TextBox 26">
            <a:extLst xmlns:a="http://schemas.openxmlformats.org/drawingml/2006/main">
              <a:ext uri="{FF2B5EF4-FFF2-40B4-BE49-F238E27FC236}">
                <a16:creationId xmlns:a16="http://schemas.microsoft.com/office/drawing/2014/main" id="{F2F7BFFD-17AD-4F95-BA1F-6934E1E0575F}"/>
              </a:ext>
            </a:extLst>
          </p:cNvPr>
          <p:cNvSpPr>
            <a:spLocks xmlns:a="http://schemas.openxmlformats.org/drawingml/2006/main" noGrp="1"/>
          </p:cNvSpPr>
          <p:nvPr/>
        </p:nvSpPr>
        <p:spPr>
          <a:xfrm xmlns:a="http://schemas.openxmlformats.org/drawingml/2006/main">
            <a:off x="548640" y="3831336"/>
            <a:ext cx="2606040" cy="36576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p xmlns:a="http://schemas.openxmlformats.org/drawingml/2006/main">
            <a:pPr algn="l">
              <a:buNone/>
            </a:pPr>
            <a:r>
              <a:rPr sz="1400" b="1">
                <a:solidFill>
                  <a:srgbClr val="003366"/>
                </a:solidFill>
                <a:latin typeface="Calibri"/>
                <a:ea typeface="Calibri"/>
                <a:cs typeface="Calibri"/>
              </a:rPr>
              <a:t>Comparative cohorts</a:t>
            </a:r>
          </a:p>
        </p:txBody>
      </p:sp>
      <p:sp>
        <p:nvSpPr>
          <p:cNvPr id="28" name="TextBox 27">
            <a:extLst xmlns:a="http://schemas.openxmlformats.org/drawingml/2006/main">
              <a:ext uri="{FF2B5EF4-FFF2-40B4-BE49-F238E27FC236}">
                <a16:creationId xmlns:a16="http://schemas.microsoft.com/office/drawing/2014/main" id="{3FBF7FB9-505A-4A68-9D8F-16DCAEF2C9A2}"/>
              </a:ext>
            </a:extLst>
          </p:cNvPr>
          <p:cNvSpPr>
            <a:spLocks xmlns:a="http://schemas.openxmlformats.org/drawingml/2006/main" noGrp="1"/>
          </p:cNvSpPr>
          <p:nvPr/>
        </p:nvSpPr>
        <p:spPr>
          <a:xfrm xmlns:a="http://schemas.openxmlformats.org/drawingml/2006/main">
            <a:off x="3383280" y="3831336"/>
            <a:ext cx="4160520" cy="36576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p xmlns:a="http://schemas.openxmlformats.org/drawingml/2006/main">
            <a:pPr algn="l">
              <a:buNone/>
            </a:pPr>
            <a:r>
              <a:rPr sz="1400" b="1">
                <a:solidFill>
                  <a:srgbClr val="1A1A1A"/>
                </a:solidFill>
                <a:latin typeface="Calibri"/>
                <a:ea typeface="Calibri"/>
                <a:cs typeface="Calibri"/>
              </a:rPr>
              <a:t>RA · T2D · epigenetic aging</a:t>
            </a:r>
          </a:p>
        </p:txBody>
      </p:sp>
      <p:sp>
        <p:nvSpPr>
          <p:cNvPr id="29" name="TextBox 28">
            <a:extLst xmlns:a="http://schemas.openxmlformats.org/drawingml/2006/main">
              <a:ext uri="{FF2B5EF4-FFF2-40B4-BE49-F238E27FC236}">
                <a16:creationId xmlns:a16="http://schemas.microsoft.com/office/drawing/2014/main" id="{E76AC2DE-60F5-40A9-B13E-4A67345672A8}"/>
              </a:ext>
            </a:extLst>
          </p:cNvPr>
          <p:cNvSpPr>
            <a:spLocks xmlns:a="http://schemas.openxmlformats.org/drawingml/2006/main" noGrp="1"/>
          </p:cNvSpPr>
          <p:nvPr/>
        </p:nvSpPr>
        <p:spPr>
          <a:xfrm xmlns:a="http://schemas.openxmlformats.org/drawingml/2006/main">
            <a:off x="7772400" y="3831336"/>
            <a:ext cx="3886200" cy="36576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p xmlns:a="http://schemas.openxmlformats.org/drawingml/2006/main">
            <a:pPr algn="l">
              <a:buNone/>
            </a:pPr>
            <a:r>
              <a:rPr sz="1400" b="0">
                <a:solidFill>
                  <a:srgbClr val="4A5566"/>
                </a:solidFill>
                <a:latin typeface="Calibri"/>
                <a:ea typeface="Calibri"/>
                <a:cs typeface="Calibri"/>
              </a:rPr>
              <a:t>NCBI GEO · recount3 / biobanks</a:t>
            </a:r>
          </a:p>
        </p:txBody>
      </p:sp>
      <p:sp>
        <p:nvSpPr>
          <p:cNvPr id="30" name="Rectangle 29">
            <a:extLst xmlns:a="http://schemas.openxmlformats.org/drawingml/2006/main">
              <a:ext uri="{FF2B5EF4-FFF2-40B4-BE49-F238E27FC236}">
                <a16:creationId xmlns:a16="http://schemas.microsoft.com/office/drawing/2014/main" id="{0A0F60F3-88BE-4004-B65E-6853710F436C}"/>
              </a:ext>
            </a:extLst>
          </p:cNvPr>
          <p:cNvSpPr>
            <a:spLocks xmlns:a="http://schemas.openxmlformats.org/drawingml/2006/main" noGrp="1"/>
          </p:cNvSpPr>
          <p:nvPr/>
        </p:nvSpPr>
        <p:spPr>
          <a:xfrm xmlns:a="http://schemas.openxmlformats.org/drawingml/2006/main">
            <a:off x="457200" y="4325112"/>
            <a:ext cx="11247120" cy="658368"/>
          </a:xfrm>
          <a:prstGeom xmlns:a="http://schemas.openxmlformats.org/drawingml/2006/main" prst="rect">
            <a:avLst/>
          </a:prstGeom>
          <a:solidFill xmlns:a="http://schemas.openxmlformats.org/drawingml/2006/main">
            <a:srgbClr val="FFFFFF"/>
          </a:solidFill>
          <a:ln xmlns:a="http://schemas.openxmlformats.org/drawingml/2006/main" w="9525">
            <a:solidFill>
              <a:srgbClr val="CCCCC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1" name="TextBox 30">
            <a:extLst xmlns:a="http://schemas.openxmlformats.org/drawingml/2006/main">
              <a:ext uri="{FF2B5EF4-FFF2-40B4-BE49-F238E27FC236}">
                <a16:creationId xmlns:a16="http://schemas.microsoft.com/office/drawing/2014/main" id="{DE2502FF-7712-4F1E-8C3C-75DD908FDBD3}"/>
              </a:ext>
            </a:extLst>
          </p:cNvPr>
          <p:cNvSpPr>
            <a:spLocks xmlns:a="http://schemas.openxmlformats.org/drawingml/2006/main" noGrp="1"/>
          </p:cNvSpPr>
          <p:nvPr/>
        </p:nvSpPr>
        <p:spPr>
          <a:xfrm xmlns:a="http://schemas.openxmlformats.org/drawingml/2006/main">
            <a:off x="548640" y="4489704"/>
            <a:ext cx="2606040" cy="36576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p xmlns:a="http://schemas.openxmlformats.org/drawingml/2006/main">
            <a:pPr algn="l">
              <a:buNone/>
            </a:pPr>
            <a:r>
              <a:rPr sz="1400" b="1">
                <a:solidFill>
                  <a:srgbClr val="003366"/>
                </a:solidFill>
                <a:latin typeface="Calibri"/>
                <a:ea typeface="Calibri"/>
                <a:cs typeface="Calibri"/>
              </a:rPr>
              <a:t>Governance</a:t>
            </a:r>
          </a:p>
        </p:txBody>
      </p:sp>
      <p:sp>
        <p:nvSpPr>
          <p:cNvPr id="32" name="TextBox 31">
            <a:extLst xmlns:a="http://schemas.openxmlformats.org/drawingml/2006/main">
              <a:ext uri="{FF2B5EF4-FFF2-40B4-BE49-F238E27FC236}">
                <a16:creationId xmlns:a16="http://schemas.microsoft.com/office/drawing/2014/main" id="{699B7145-4036-4B45-9989-A846B90473B8}"/>
              </a:ext>
            </a:extLst>
          </p:cNvPr>
          <p:cNvSpPr>
            <a:spLocks xmlns:a="http://schemas.openxmlformats.org/drawingml/2006/main" noGrp="1"/>
          </p:cNvSpPr>
          <p:nvPr/>
        </p:nvSpPr>
        <p:spPr>
          <a:xfrm xmlns:a="http://schemas.openxmlformats.org/drawingml/2006/main">
            <a:off x="3383280" y="4489704"/>
            <a:ext cx="4160520" cy="36576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p xmlns:a="http://schemas.openxmlformats.org/drawingml/2006/main">
            <a:pPr algn="l">
              <a:buNone/>
            </a:pPr>
            <a:r>
              <a:rPr sz="1400" b="1">
                <a:solidFill>
                  <a:srgbClr val="1A1A1A"/>
                </a:solidFill>
                <a:latin typeface="Calibri"/>
                <a:ea typeface="Calibri"/>
                <a:cs typeface="Calibri"/>
              </a:rPr>
              <a:t>Metadata and access status</a:t>
            </a:r>
          </a:p>
        </p:txBody>
      </p:sp>
      <p:sp>
        <p:nvSpPr>
          <p:cNvPr id="33" name="TextBox 32">
            <a:extLst xmlns:a="http://schemas.openxmlformats.org/drawingml/2006/main">
              <a:ext uri="{FF2B5EF4-FFF2-40B4-BE49-F238E27FC236}">
                <a16:creationId xmlns:a16="http://schemas.microsoft.com/office/drawing/2014/main" id="{3BC509C2-D0FD-4092-9698-1C86AE999150}"/>
              </a:ext>
            </a:extLst>
          </p:cNvPr>
          <p:cNvSpPr>
            <a:spLocks xmlns:a="http://schemas.openxmlformats.org/drawingml/2006/main" noGrp="1"/>
          </p:cNvSpPr>
          <p:nvPr/>
        </p:nvSpPr>
        <p:spPr>
          <a:xfrm xmlns:a="http://schemas.openxmlformats.org/drawingml/2006/main">
            <a:off x="7772400" y="4489704"/>
            <a:ext cx="3886200" cy="36576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p xmlns:a="http://schemas.openxmlformats.org/drawingml/2006/main">
            <a:pPr algn="l">
              <a:buNone/>
            </a:pPr>
            <a:r>
              <a:rPr sz="1400" b="0">
                <a:solidFill>
                  <a:srgbClr val="4A5566"/>
                </a:solidFill>
                <a:latin typeface="Calibri"/>
                <a:ea typeface="Calibri"/>
                <a:cs typeface="Calibri"/>
              </a:rPr>
              <a:t>DUAs where required</a:t>
            </a:r>
          </a:p>
        </p:txBody>
      </p:sp>
    </p:spTree>
    <p:extLst>
      <p:ext uri="{BB962C8B-B14F-4D97-AF65-F5344CB8AC3E}">
        <p14:creationId xmlns:p14="http://schemas.microsoft.com/office/powerpoint/2010/main" val="1108003630"/>
      </p:ext>
    </p:extLst>
  </p:cSld>
</p:sld>
</file>

<file path=ppt/slides/slide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41FF73B7-7EF0-469C-901B-3CAB083B34E4}"/>
              </a:ext>
            </a:extLst>
          </p:cNvPr>
          <p:cNvSpPr>
            <a:spLocks xmlns:a="http://schemas.openxmlformats.org/drawingml/2006/main" noGrp="1"/>
          </p:cNvSpPr>
          <p:nvPr/>
        </p:nvSpPr>
        <p:spPr>
          <a:xfrm xmlns:a="http://schemas.openxmlformats.org/drawingml/2006/main">
            <a:off x="0" y="0"/>
            <a:ext cx="12191695" cy="868680"/>
          </a:xfrm>
          <a:prstGeom xmlns:a="http://schemas.openxmlformats.org/drawingml/2006/main" prst="rect">
            <a:avLst/>
          </a:prstGeom>
          <a:solidFill xmlns:a="http://schemas.openxmlformats.org/drawingml/2006/main">
            <a:srgbClr val="00336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9A4C0E69-5D1E-4A0F-888F-303A02D44CCD}"/>
              </a:ext>
            </a:extLst>
          </p:cNvPr>
          <p:cNvSpPr>
            <a:spLocks xmlns:a="http://schemas.openxmlformats.org/drawingml/2006/main" noGrp="1"/>
          </p:cNvSpPr>
          <p:nvPr/>
        </p:nvSpPr>
        <p:spPr>
          <a:xfrm xmlns:a="http://schemas.openxmlformats.org/drawingml/2006/main">
            <a:off x="0" y="868680"/>
            <a:ext cx="12191695" cy="73152"/>
          </a:xfrm>
          <a:prstGeom xmlns:a="http://schemas.openxmlformats.org/drawingml/2006/main" prst="rect">
            <a:avLst/>
          </a:prstGeom>
          <a:solidFill xmlns:a="http://schemas.openxmlformats.org/drawingml/2006/main">
            <a:srgbClr val="CC00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Rectangle 3">
            <a:extLst xmlns:a="http://schemas.openxmlformats.org/drawingml/2006/main">
              <a:ext uri="{FF2B5EF4-FFF2-40B4-BE49-F238E27FC236}">
                <a16:creationId xmlns:a16="http://schemas.microsoft.com/office/drawing/2014/main" id="{FECEBB76-6C4E-4D0A-953A-79F7800E1587}"/>
              </a:ext>
            </a:extLst>
          </p:cNvPr>
          <p:cNvSpPr>
            <a:spLocks xmlns:a="http://schemas.openxmlformats.org/drawingml/2006/main" noGrp="1"/>
          </p:cNvSpPr>
          <p:nvPr/>
        </p:nvSpPr>
        <p:spPr>
          <a:xfrm xmlns:a="http://schemas.openxmlformats.org/drawingml/2006/main">
            <a:off x="0" y="941832"/>
            <a:ext cx="109728" cy="5916168"/>
          </a:xfrm>
          <a:prstGeom xmlns:a="http://schemas.openxmlformats.org/drawingml/2006/main" prst="rect">
            <a:avLst/>
          </a:prstGeom>
          <a:solidFill xmlns:a="http://schemas.openxmlformats.org/drawingml/2006/main">
            <a:srgbClr val="CC00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Rectangle 4">
            <a:extLst xmlns:a="http://schemas.openxmlformats.org/drawingml/2006/main">
              <a:ext uri="{FF2B5EF4-FFF2-40B4-BE49-F238E27FC236}">
                <a16:creationId xmlns:a16="http://schemas.microsoft.com/office/drawing/2014/main" id="{600C4CFD-32EB-4AD9-88B7-0151BB7F61D9}"/>
              </a:ext>
            </a:extLst>
          </p:cNvPr>
          <p:cNvSpPr>
            <a:spLocks xmlns:a="http://schemas.openxmlformats.org/drawingml/2006/main" noGrp="1"/>
          </p:cNvSpPr>
          <p:nvPr/>
        </p:nvSpPr>
        <p:spPr>
          <a:xfrm xmlns:a="http://schemas.openxmlformats.org/drawingml/2006/main">
            <a:off x="0" y="6473952"/>
            <a:ext cx="12191695" cy="384048"/>
          </a:xfrm>
          <a:prstGeom xmlns:a="http://schemas.openxmlformats.org/drawingml/2006/main" prst="rect">
            <a:avLst/>
          </a:prstGeom>
          <a:solidFill xmlns:a="http://schemas.openxmlformats.org/drawingml/2006/main">
            <a:srgbClr val="00336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A3B4866B-9E25-4AB9-A1FF-57A3586185B2}"/>
              </a:ext>
            </a:extLst>
          </p:cNvPr>
          <p:cNvSpPr>
            <a:spLocks xmlns:a="http://schemas.openxmlformats.org/drawingml/2006/main" noGrp="1"/>
          </p:cNvSpPr>
          <p:nvPr/>
        </p:nvSpPr>
        <p:spPr>
          <a:xfrm xmlns:a="http://schemas.openxmlformats.org/drawingml/2006/main">
            <a:off x="320040" y="164592"/>
            <a:ext cx="11430000" cy="50292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p xmlns:a="http://schemas.openxmlformats.org/drawingml/2006/main">
            <a:pPr algn="l">
              <a:buNone/>
            </a:pPr>
            <a:r>
              <a:rPr sz="2600" b="1">
                <a:solidFill>
                  <a:srgbClr val="FFFFFF"/>
                </a:solidFill>
                <a:latin typeface="Calibri"/>
                <a:ea typeface="Calibri"/>
                <a:cs typeface="Calibri"/>
              </a:rPr>
              <a:t>Timeline Summary</a:t>
            </a:r>
          </a:p>
        </p:txBody>
      </p:sp>
      <p:sp>
        <p:nvSpPr>
          <p:cNvPr id="7" name="TextBox 6">
            <a:extLst xmlns:a="http://schemas.openxmlformats.org/drawingml/2006/main">
              <a:ext uri="{FF2B5EF4-FFF2-40B4-BE49-F238E27FC236}">
                <a16:creationId xmlns:a16="http://schemas.microsoft.com/office/drawing/2014/main" id="{01711A4A-CA69-46B0-BABA-A2B22A1462E3}"/>
              </a:ext>
            </a:extLst>
          </p:cNvPr>
          <p:cNvSpPr>
            <a:spLocks xmlns:a="http://schemas.openxmlformats.org/drawingml/2006/main" noGrp="1"/>
          </p:cNvSpPr>
          <p:nvPr/>
        </p:nvSpPr>
        <p:spPr>
          <a:xfrm xmlns:a="http://schemas.openxmlformats.org/drawingml/2006/main">
            <a:off x="320040" y="530352"/>
            <a:ext cx="11430000" cy="292608"/>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p xmlns:a="http://schemas.openxmlformats.org/drawingml/2006/main">
            <a:pPr algn="l">
              <a:buNone/>
            </a:pPr>
            <a:r>
              <a:rPr sz="1200" b="0">
                <a:solidFill>
                  <a:srgbClr val="CCCCCC"/>
                </a:solidFill>
                <a:latin typeface="Calibri"/>
                <a:ea typeface="Calibri"/>
                <a:cs typeface="Calibri"/>
              </a:rPr>
              <a:t>Fall 2026 → Summer 2029  ·  24 GitHub-synced roadmap issues</a:t>
            </a:r>
          </a:p>
        </p:txBody>
      </p:sp>
      <p:sp>
        <p:nvSpPr>
          <p:cNvPr id="8" name="TextBox 7">
            <a:extLst xmlns:a="http://schemas.openxmlformats.org/drawingml/2006/main">
              <a:ext uri="{FF2B5EF4-FFF2-40B4-BE49-F238E27FC236}">
                <a16:creationId xmlns:a16="http://schemas.microsoft.com/office/drawing/2014/main" id="{76F4F4E5-FEC6-4DAF-8D42-B0B49037EE05}"/>
              </a:ext>
            </a:extLst>
          </p:cNvPr>
          <p:cNvSpPr>
            <a:spLocks xmlns:a="http://schemas.openxmlformats.org/drawingml/2006/main" noGrp="1"/>
          </p:cNvSpPr>
          <p:nvPr/>
        </p:nvSpPr>
        <p:spPr>
          <a:xfrm xmlns:a="http://schemas.openxmlformats.org/drawingml/2006/main">
            <a:off x="320040" y="6510528"/>
            <a:ext cx="7772400" cy="292608"/>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p xmlns:a="http://schemas.openxmlformats.org/drawingml/2006/main">
            <a:pPr algn="l">
              <a:buNone/>
            </a:pPr>
            <a:r>
              <a:rPr sz="1000" b="0">
                <a:solidFill>
                  <a:srgbClr val="FFFFFF"/>
                </a:solidFill>
                <a:latin typeface="Calibri"/>
                <a:ea typeface="Calibri"/>
                <a:cs typeface="Calibri"/>
              </a:rPr>
              <a:t>Adam Cankaya  ·  Florida Atlantic University  ·  College of Engineering and Computer Science</a:t>
            </a:r>
          </a:p>
        </p:txBody>
      </p:sp>
      <p:sp>
        <p:nvSpPr>
          <p:cNvPr id="9" name="TextBox 8">
            <a:extLst xmlns:a="http://schemas.openxmlformats.org/drawingml/2006/main">
              <a:ext uri="{FF2B5EF4-FFF2-40B4-BE49-F238E27FC236}">
                <a16:creationId xmlns:a16="http://schemas.microsoft.com/office/drawing/2014/main" id="{0AB5195D-FC73-41B9-A70B-F019FC74E13C}"/>
              </a:ext>
            </a:extLst>
          </p:cNvPr>
          <p:cNvSpPr>
            <a:spLocks xmlns:a="http://schemas.openxmlformats.org/drawingml/2006/main" noGrp="1"/>
          </p:cNvSpPr>
          <p:nvPr/>
        </p:nvSpPr>
        <p:spPr>
          <a:xfrm xmlns:a="http://schemas.openxmlformats.org/drawingml/2006/main">
            <a:off x="8412480" y="6510528"/>
            <a:ext cx="3474720" cy="292608"/>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p xmlns:a="http://schemas.openxmlformats.org/drawingml/2006/main">
            <a:pPr algn="r">
              <a:buNone/>
            </a:pPr>
            <a:r>
              <a:rPr sz="1000" b="0">
                <a:solidFill>
                  <a:srgbClr val="CCCCCC"/>
                </a:solidFill>
                <a:latin typeface="Calibri"/>
                <a:ea typeface="Calibri"/>
                <a:cs typeface="Calibri"/>
              </a:rPr>
              <a:t>acankaya2017@fau.edu</a:t>
            </a:r>
          </a:p>
        </p:txBody>
      </p:sp>
      <p:sp>
        <p:nvSpPr>
          <p:cNvPr id="10" name="Rounded Rectangle 9">
            <a:extLst xmlns:a="http://schemas.openxmlformats.org/drawingml/2006/main">
              <a:ext uri="{FF2B5EF4-FFF2-40B4-BE49-F238E27FC236}">
                <a16:creationId xmlns:a16="http://schemas.microsoft.com/office/drawing/2014/main" id="{186B1A33-1C82-4731-BF42-C7AE6125F34B}"/>
              </a:ext>
            </a:extLst>
          </p:cNvPr>
          <p:cNvSpPr>
            <a:spLocks xmlns:a="http://schemas.openxmlformats.org/drawingml/2006/main" noGrp="1"/>
          </p:cNvSpPr>
          <p:nvPr/>
        </p:nvSpPr>
        <p:spPr>
          <a:xfrm xmlns:a="http://schemas.openxmlformats.org/drawingml/2006/main">
            <a:off x="411480" y="1234440"/>
            <a:ext cx="3703320" cy="443484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12700">
            <a:solidFill>
              <a:srgbClr val="CCCCC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Rectangle 10">
            <a:extLst xmlns:a="http://schemas.openxmlformats.org/drawingml/2006/main">
              <a:ext uri="{FF2B5EF4-FFF2-40B4-BE49-F238E27FC236}">
                <a16:creationId xmlns:a16="http://schemas.microsoft.com/office/drawing/2014/main" id="{FEB298F9-C935-4F3B-AD34-0F137CE94483}"/>
              </a:ext>
            </a:extLst>
          </p:cNvPr>
          <p:cNvSpPr>
            <a:spLocks xmlns:a="http://schemas.openxmlformats.org/drawingml/2006/main" noGrp="1"/>
          </p:cNvSpPr>
          <p:nvPr/>
        </p:nvSpPr>
        <p:spPr>
          <a:xfrm xmlns:a="http://schemas.openxmlformats.org/drawingml/2006/main">
            <a:off x="411480" y="1234440"/>
            <a:ext cx="3703320" cy="960120"/>
          </a:xfrm>
          <a:prstGeom xmlns:a="http://schemas.openxmlformats.org/drawingml/2006/main" prst="rect">
            <a:avLst/>
          </a:prstGeom>
          <a:solidFill xmlns:a="http://schemas.openxmlformats.org/drawingml/2006/main">
            <a:srgbClr val="00336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73852ED6-C19F-448C-B861-4E3021F91776}"/>
              </a:ext>
            </a:extLst>
          </p:cNvPr>
          <p:cNvSpPr>
            <a:spLocks xmlns:a="http://schemas.openxmlformats.org/drawingml/2006/main" noGrp="1"/>
          </p:cNvSpPr>
          <p:nvPr/>
        </p:nvSpPr>
        <p:spPr>
          <a:xfrm xmlns:a="http://schemas.openxmlformats.org/drawingml/2006/main">
            <a:off x="594360" y="1298448"/>
            <a:ext cx="3337560" cy="41148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p xmlns:a="http://schemas.openxmlformats.org/drawingml/2006/main">
            <a:pPr algn="l">
              <a:buNone/>
            </a:pPr>
            <a:r>
              <a:rPr sz="2200" b="1">
                <a:solidFill>
                  <a:srgbClr val="FFFFFF"/>
                </a:solidFill>
                <a:latin typeface="Calibri"/>
                <a:ea typeface="Calibri"/>
                <a:cs typeface="Calibri"/>
              </a:rPr>
              <a:t>Year 1</a:t>
            </a:r>
          </a:p>
        </p:txBody>
      </p:sp>
      <p:sp>
        <p:nvSpPr>
          <p:cNvPr id="13" name="TextBox 12">
            <a:extLst xmlns:a="http://schemas.openxmlformats.org/drawingml/2006/main">
              <a:ext uri="{FF2B5EF4-FFF2-40B4-BE49-F238E27FC236}">
                <a16:creationId xmlns:a16="http://schemas.microsoft.com/office/drawing/2014/main" id="{809C4CB3-6299-47E3-9DEC-92EDEF96F73A}"/>
              </a:ext>
            </a:extLst>
          </p:cNvPr>
          <p:cNvSpPr>
            <a:spLocks xmlns:a="http://schemas.openxmlformats.org/drawingml/2006/main" noGrp="1"/>
          </p:cNvSpPr>
          <p:nvPr/>
        </p:nvSpPr>
        <p:spPr>
          <a:xfrm xmlns:a="http://schemas.openxmlformats.org/drawingml/2006/main">
            <a:off x="594360" y="1737360"/>
            <a:ext cx="3337560" cy="32004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p xmlns:a="http://schemas.openxmlformats.org/drawingml/2006/main">
            <a:pPr algn="l">
              <a:buNone/>
            </a:pPr>
            <a:r>
              <a:rPr sz="1200" b="0">
                <a:solidFill>
                  <a:srgbClr val="CCCCCC"/>
                </a:solidFill>
                <a:latin typeface="Calibri"/>
                <a:ea typeface="Calibri"/>
                <a:cs typeface="Calibri"/>
              </a:rPr>
              <a:t>Data foundation</a:t>
            </a:r>
          </a:p>
        </p:txBody>
      </p:sp>
      <p:sp>
        <p:nvSpPr>
          <p:cNvPr id="14" name="TextBox 13">
            <a:extLst xmlns:a="http://schemas.openxmlformats.org/drawingml/2006/main">
              <a:ext uri="{FF2B5EF4-FFF2-40B4-BE49-F238E27FC236}">
                <a16:creationId xmlns:a16="http://schemas.microsoft.com/office/drawing/2014/main" id="{AF5257AC-E8D2-45F0-B15E-C067C600136A}"/>
              </a:ext>
            </a:extLst>
          </p:cNvPr>
          <p:cNvSpPr>
            <a:spLocks xmlns:a="http://schemas.openxmlformats.org/drawingml/2006/main" noGrp="1"/>
          </p:cNvSpPr>
          <p:nvPr/>
        </p:nvSpPr>
        <p:spPr>
          <a:xfrm xmlns:a="http://schemas.openxmlformats.org/drawingml/2006/main">
            <a:off x="640080" y="2377440"/>
            <a:ext cx="3246120" cy="23774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Bef>
                <a:spcPts val="200"/>
              </a:spcBef>
              <a:spcAft>
                <a:spcPts val="1000"/>
              </a:spcAft>
              <a:buNone/>
            </a:pPr>
            <a:r>
              <a:rPr sz="1400" b="0">
                <a:solidFill>
                  <a:srgbClr val="1A1A1A"/>
                </a:solidFill>
                <a:latin typeface="Calibri"/>
                <a:ea typeface="Calibri"/>
                <a:cs typeface="Calibri"/>
              </a:rPr>
              <a:t>•  Lock cohorts and access</a:t>
            </a:r>
          </a:p>
          <a:p xmlns:a="http://schemas.openxmlformats.org/drawingml/2006/main">
            <a:pPr algn="l">
              <a:spcBef>
                <a:spcPts val="200"/>
              </a:spcBef>
              <a:spcAft>
                <a:spcPts val="1000"/>
              </a:spcAft>
              <a:buNone/>
            </a:pPr>
            <a:r>
              <a:rPr sz="1400" b="0">
                <a:solidFill>
                  <a:srgbClr val="1A1A1A"/>
                </a:solidFill>
                <a:latin typeface="Calibri"/>
                <a:ea typeface="Calibri"/>
                <a:cs typeface="Calibri"/>
              </a:rPr>
              <a:t>•  Map BRCA features</a:t>
            </a:r>
          </a:p>
          <a:p xmlns:a="http://schemas.openxmlformats.org/drawingml/2006/main">
            <a:pPr algn="l">
              <a:spcBef>
                <a:spcPts val="200"/>
              </a:spcBef>
              <a:spcAft>
                <a:spcPts val="1000"/>
              </a:spcAft>
              <a:buNone/>
            </a:pPr>
            <a:r>
              <a:rPr sz="1400" b="0">
                <a:solidFill>
                  <a:srgbClr val="1A1A1A"/>
                </a:solidFill>
                <a:latin typeface="Calibri"/>
                <a:ea typeface="Calibri"/>
                <a:cs typeface="Calibri"/>
              </a:rPr>
              <a:t>•  Build leakage-safe ETL</a:t>
            </a:r>
          </a:p>
          <a:p xmlns:a="http://schemas.openxmlformats.org/drawingml/2006/main">
            <a:pPr algn="l">
              <a:spcBef>
                <a:spcPts val="200"/>
              </a:spcBef>
              <a:spcAft>
                <a:spcPts val="1000"/>
              </a:spcAft>
              <a:buNone/>
            </a:pPr>
            <a:r>
              <a:rPr sz="1400" b="0">
                <a:solidFill>
                  <a:srgbClr val="1A1A1A"/>
                </a:solidFill>
                <a:latin typeface="Calibri"/>
                <a:ea typeface="Calibri"/>
                <a:cs typeface="Calibri"/>
              </a:rPr>
              <a:t>•  Stand up study infrastructure</a:t>
            </a:r>
          </a:p>
        </p:txBody>
      </p:sp>
      <p:sp>
        <p:nvSpPr>
          <p:cNvPr id="15" name="TextBox 14">
            <a:extLst xmlns:a="http://schemas.openxmlformats.org/drawingml/2006/main">
              <a:ext uri="{FF2B5EF4-FFF2-40B4-BE49-F238E27FC236}">
                <a16:creationId xmlns:a16="http://schemas.microsoft.com/office/drawing/2014/main" id="{EB9BE855-0D6A-448D-AF9D-0CF89260D84B}"/>
              </a:ext>
            </a:extLst>
          </p:cNvPr>
          <p:cNvSpPr>
            <a:spLocks xmlns:a="http://schemas.openxmlformats.org/drawingml/2006/main" noGrp="1"/>
          </p:cNvSpPr>
          <p:nvPr/>
        </p:nvSpPr>
        <p:spPr>
          <a:xfrm xmlns:a="http://schemas.openxmlformats.org/drawingml/2006/main">
            <a:off x="594360" y="5074920"/>
            <a:ext cx="3337560" cy="41148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p xmlns:a="http://schemas.openxmlformats.org/drawingml/2006/main">
            <a:pPr algn="l">
              <a:buNone/>
            </a:pPr>
            <a:r>
              <a:rPr sz="1100" b="1">
                <a:solidFill>
                  <a:srgbClr val="003366"/>
                </a:solidFill>
                <a:latin typeface="Calibri"/>
                <a:ea typeface="Calibri"/>
                <a:cs typeface="Calibri"/>
              </a:rPr>
              <a:t>Shared (A+B) · BRCA-first</a:t>
            </a:r>
          </a:p>
        </p:txBody>
      </p:sp>
      <p:sp>
        <p:nvSpPr>
          <p:cNvPr id="16" name="Rounded Rectangle 15">
            <a:extLst xmlns:a="http://schemas.openxmlformats.org/drawingml/2006/main">
              <a:ext uri="{FF2B5EF4-FFF2-40B4-BE49-F238E27FC236}">
                <a16:creationId xmlns:a16="http://schemas.microsoft.com/office/drawing/2014/main" id="{22D4865E-93EB-4F1D-8D14-73F656FB1B67}"/>
              </a:ext>
            </a:extLst>
          </p:cNvPr>
          <p:cNvSpPr>
            <a:spLocks xmlns:a="http://schemas.openxmlformats.org/drawingml/2006/main" noGrp="1"/>
          </p:cNvSpPr>
          <p:nvPr/>
        </p:nvSpPr>
        <p:spPr>
          <a:xfrm xmlns:a="http://schemas.openxmlformats.org/drawingml/2006/main">
            <a:off x="4297680" y="1234440"/>
            <a:ext cx="3703320" cy="443484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12700">
            <a:solidFill>
              <a:srgbClr val="CCCCC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Rectangle 16">
            <a:extLst xmlns:a="http://schemas.openxmlformats.org/drawingml/2006/main">
              <a:ext uri="{FF2B5EF4-FFF2-40B4-BE49-F238E27FC236}">
                <a16:creationId xmlns:a16="http://schemas.microsoft.com/office/drawing/2014/main" id="{EB60C1C4-461F-4468-8F36-60DBB846B9A8}"/>
              </a:ext>
            </a:extLst>
          </p:cNvPr>
          <p:cNvSpPr>
            <a:spLocks xmlns:a="http://schemas.openxmlformats.org/drawingml/2006/main" noGrp="1"/>
          </p:cNvSpPr>
          <p:nvPr/>
        </p:nvSpPr>
        <p:spPr>
          <a:xfrm xmlns:a="http://schemas.openxmlformats.org/drawingml/2006/main">
            <a:off x="4297680" y="1234440"/>
            <a:ext cx="3703320" cy="960120"/>
          </a:xfrm>
          <a:prstGeom xmlns:a="http://schemas.openxmlformats.org/drawingml/2006/main" prst="rect">
            <a:avLst/>
          </a:prstGeom>
          <a:solidFill xmlns:a="http://schemas.openxmlformats.org/drawingml/2006/main">
            <a:srgbClr val="CC00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TextBox 17">
            <a:extLst xmlns:a="http://schemas.openxmlformats.org/drawingml/2006/main">
              <a:ext uri="{FF2B5EF4-FFF2-40B4-BE49-F238E27FC236}">
                <a16:creationId xmlns:a16="http://schemas.microsoft.com/office/drawing/2014/main" id="{DCD31344-BCE2-413F-BB33-AE36264F59D0}"/>
              </a:ext>
            </a:extLst>
          </p:cNvPr>
          <p:cNvSpPr>
            <a:spLocks xmlns:a="http://schemas.openxmlformats.org/drawingml/2006/main" noGrp="1"/>
          </p:cNvSpPr>
          <p:nvPr/>
        </p:nvSpPr>
        <p:spPr>
          <a:xfrm xmlns:a="http://schemas.openxmlformats.org/drawingml/2006/main">
            <a:off x="4480560" y="1298448"/>
            <a:ext cx="3337560" cy="41148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p xmlns:a="http://schemas.openxmlformats.org/drawingml/2006/main">
            <a:pPr algn="l">
              <a:buNone/>
            </a:pPr>
            <a:r>
              <a:rPr sz="2200" b="1">
                <a:solidFill>
                  <a:srgbClr val="FFFFFF"/>
                </a:solidFill>
                <a:latin typeface="Calibri"/>
                <a:ea typeface="Calibri"/>
                <a:cs typeface="Calibri"/>
              </a:rPr>
              <a:t>Year 2</a:t>
            </a:r>
          </a:p>
        </p:txBody>
      </p:sp>
      <p:sp>
        <p:nvSpPr>
          <p:cNvPr id="19" name="TextBox 18">
            <a:extLst xmlns:a="http://schemas.openxmlformats.org/drawingml/2006/main">
              <a:ext uri="{FF2B5EF4-FFF2-40B4-BE49-F238E27FC236}">
                <a16:creationId xmlns:a16="http://schemas.microsoft.com/office/drawing/2014/main" id="{50DE30C2-3F9C-41F9-B5BD-258002B22475}"/>
              </a:ext>
            </a:extLst>
          </p:cNvPr>
          <p:cNvSpPr>
            <a:spLocks xmlns:a="http://schemas.openxmlformats.org/drawingml/2006/main" noGrp="1"/>
          </p:cNvSpPr>
          <p:nvPr/>
        </p:nvSpPr>
        <p:spPr>
          <a:xfrm xmlns:a="http://schemas.openxmlformats.org/drawingml/2006/main">
            <a:off x="4480560" y="1737360"/>
            <a:ext cx="3337560" cy="32004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p xmlns:a="http://schemas.openxmlformats.org/drawingml/2006/main">
            <a:pPr algn="l">
              <a:buNone/>
            </a:pPr>
            <a:r>
              <a:rPr sz="1200" b="0">
                <a:solidFill>
                  <a:srgbClr val="CCCCCC"/>
                </a:solidFill>
                <a:latin typeface="Calibri"/>
                <a:ea typeface="Calibri"/>
                <a:cs typeface="Calibri"/>
              </a:rPr>
              <a:t>Build &amp; evaluate</a:t>
            </a:r>
          </a:p>
        </p:txBody>
      </p:sp>
      <p:sp>
        <p:nvSpPr>
          <p:cNvPr id="20" name="TextBox 19">
            <a:extLst xmlns:a="http://schemas.openxmlformats.org/drawingml/2006/main">
              <a:ext uri="{FF2B5EF4-FFF2-40B4-BE49-F238E27FC236}">
                <a16:creationId xmlns:a16="http://schemas.microsoft.com/office/drawing/2014/main" id="{636EA169-542C-44C6-A361-3A850E264867}"/>
              </a:ext>
            </a:extLst>
          </p:cNvPr>
          <p:cNvSpPr>
            <a:spLocks xmlns:a="http://schemas.openxmlformats.org/drawingml/2006/main" noGrp="1"/>
          </p:cNvSpPr>
          <p:nvPr/>
        </p:nvSpPr>
        <p:spPr>
          <a:xfrm xmlns:a="http://schemas.openxmlformats.org/drawingml/2006/main">
            <a:off x="4526280" y="2377440"/>
            <a:ext cx="3246120" cy="23774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Bef>
                <a:spcPts val="200"/>
              </a:spcBef>
              <a:spcAft>
                <a:spcPts val="1000"/>
              </a:spcAft>
              <a:buNone/>
            </a:pPr>
            <a:r>
              <a:rPr sz="1400" b="0">
                <a:solidFill>
                  <a:srgbClr val="1A1A1A"/>
                </a:solidFill>
                <a:latin typeface="Calibri"/>
                <a:ea typeface="Calibri"/>
                <a:cs typeface="Calibri"/>
              </a:rPr>
              <a:t>•  Build spatial-temporal modules</a:t>
            </a:r>
          </a:p>
          <a:p xmlns:a="http://schemas.openxmlformats.org/drawingml/2006/main">
            <a:pPr algn="l">
              <a:spcBef>
                <a:spcPts val="200"/>
              </a:spcBef>
              <a:spcAft>
                <a:spcPts val="1000"/>
              </a:spcAft>
              <a:buNone/>
            </a:pPr>
            <a:r>
              <a:rPr sz="1400" b="0">
                <a:solidFill>
                  <a:srgbClr val="1A1A1A"/>
                </a:solidFill>
                <a:latin typeface="Calibri"/>
                <a:ea typeface="Calibri"/>
                <a:cs typeface="Calibri"/>
              </a:rPr>
              <a:t>•  Run Optuna studies</a:t>
            </a:r>
          </a:p>
          <a:p xmlns:a="http://schemas.openxmlformats.org/drawingml/2006/main">
            <a:pPr algn="l">
              <a:spcBef>
                <a:spcPts val="200"/>
              </a:spcBef>
              <a:spcAft>
                <a:spcPts val="1000"/>
              </a:spcAft>
              <a:buNone/>
            </a:pPr>
            <a:r>
              <a:rPr sz="1400" b="0">
                <a:solidFill>
                  <a:srgbClr val="1A1A1A"/>
                </a:solidFill>
                <a:latin typeface="Calibri"/>
                <a:ea typeface="Calibri"/>
                <a:cs typeface="Calibri"/>
              </a:rPr>
              <a:t>•  Holdout and ablations</a:t>
            </a:r>
          </a:p>
          <a:p xmlns:a="http://schemas.openxmlformats.org/drawingml/2006/main">
            <a:pPr algn="l">
              <a:spcBef>
                <a:spcPts val="200"/>
              </a:spcBef>
              <a:spcAft>
                <a:spcPts val="1000"/>
              </a:spcAft>
              <a:buNone/>
            </a:pPr>
            <a:r>
              <a:rPr sz="1400" b="0">
                <a:solidFill>
                  <a:srgbClr val="1A1A1A"/>
                </a:solidFill>
                <a:latin typeface="Calibri"/>
                <a:ea typeface="Calibri"/>
                <a:cs typeface="Calibri"/>
              </a:rPr>
              <a:t>•  Make the scaling decision</a:t>
            </a:r>
          </a:p>
        </p:txBody>
      </p:sp>
      <p:sp>
        <p:nvSpPr>
          <p:cNvPr id="21" name="TextBox 20">
            <a:extLst xmlns:a="http://schemas.openxmlformats.org/drawingml/2006/main">
              <a:ext uri="{FF2B5EF4-FFF2-40B4-BE49-F238E27FC236}">
                <a16:creationId xmlns:a16="http://schemas.microsoft.com/office/drawing/2014/main" id="{1699127A-D132-4B90-A0A3-F396704F3940}"/>
              </a:ext>
            </a:extLst>
          </p:cNvPr>
          <p:cNvSpPr>
            <a:spLocks xmlns:a="http://schemas.openxmlformats.org/drawingml/2006/main" noGrp="1"/>
          </p:cNvSpPr>
          <p:nvPr/>
        </p:nvSpPr>
        <p:spPr>
          <a:xfrm xmlns:a="http://schemas.openxmlformats.org/drawingml/2006/main">
            <a:off x="4480560" y="5074920"/>
            <a:ext cx="3337560" cy="41148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p xmlns:a="http://schemas.openxmlformats.org/drawingml/2006/main">
            <a:pPr algn="l">
              <a:buNone/>
            </a:pPr>
            <a:r>
              <a:rPr sz="1100" b="1">
                <a:solidFill>
                  <a:srgbClr val="CC0000"/>
                </a:solidFill>
                <a:latin typeface="Calibri"/>
                <a:ea typeface="Calibri"/>
                <a:cs typeface="Calibri"/>
              </a:rPr>
              <a:t>Track A vs B · BRCA</a:t>
            </a:r>
          </a:p>
        </p:txBody>
      </p:sp>
      <p:sp>
        <p:nvSpPr>
          <p:cNvPr id="22" name="Rounded Rectangle 21">
            <a:extLst xmlns:a="http://schemas.openxmlformats.org/drawingml/2006/main">
              <a:ext uri="{FF2B5EF4-FFF2-40B4-BE49-F238E27FC236}">
                <a16:creationId xmlns:a16="http://schemas.microsoft.com/office/drawing/2014/main" id="{4396115D-4278-4DF0-ADC3-5C7EA19BE0A4}"/>
              </a:ext>
            </a:extLst>
          </p:cNvPr>
          <p:cNvSpPr>
            <a:spLocks xmlns:a="http://schemas.openxmlformats.org/drawingml/2006/main" noGrp="1"/>
          </p:cNvSpPr>
          <p:nvPr/>
        </p:nvSpPr>
        <p:spPr>
          <a:xfrm xmlns:a="http://schemas.openxmlformats.org/drawingml/2006/main">
            <a:off x="8183879" y="1234440"/>
            <a:ext cx="3703320" cy="443484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12700">
            <a:solidFill>
              <a:srgbClr val="CCCCC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Rectangle 22">
            <a:extLst xmlns:a="http://schemas.openxmlformats.org/drawingml/2006/main">
              <a:ext uri="{FF2B5EF4-FFF2-40B4-BE49-F238E27FC236}">
                <a16:creationId xmlns:a16="http://schemas.microsoft.com/office/drawing/2014/main" id="{8C82AD0C-0CF4-46B9-B439-EC1651F52899}"/>
              </a:ext>
            </a:extLst>
          </p:cNvPr>
          <p:cNvSpPr>
            <a:spLocks xmlns:a="http://schemas.openxmlformats.org/drawingml/2006/main" noGrp="1"/>
          </p:cNvSpPr>
          <p:nvPr/>
        </p:nvSpPr>
        <p:spPr>
          <a:xfrm xmlns:a="http://schemas.openxmlformats.org/drawingml/2006/main">
            <a:off x="8183879" y="1234440"/>
            <a:ext cx="3703320" cy="960120"/>
          </a:xfrm>
          <a:prstGeom xmlns:a="http://schemas.openxmlformats.org/drawingml/2006/main" prst="rect">
            <a:avLst/>
          </a:prstGeom>
          <a:solidFill xmlns:a="http://schemas.openxmlformats.org/drawingml/2006/main">
            <a:srgbClr val="00336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 name="TextBox 23">
            <a:extLst xmlns:a="http://schemas.openxmlformats.org/drawingml/2006/main">
              <a:ext uri="{FF2B5EF4-FFF2-40B4-BE49-F238E27FC236}">
                <a16:creationId xmlns:a16="http://schemas.microsoft.com/office/drawing/2014/main" id="{85F9D667-C0D8-4C00-B655-764D700BABE9}"/>
              </a:ext>
            </a:extLst>
          </p:cNvPr>
          <p:cNvSpPr>
            <a:spLocks xmlns:a="http://schemas.openxmlformats.org/drawingml/2006/main" noGrp="1"/>
          </p:cNvSpPr>
          <p:nvPr/>
        </p:nvSpPr>
        <p:spPr>
          <a:xfrm xmlns:a="http://schemas.openxmlformats.org/drawingml/2006/main">
            <a:off x="8366759" y="1298448"/>
            <a:ext cx="3337560" cy="41148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p xmlns:a="http://schemas.openxmlformats.org/drawingml/2006/main">
            <a:pPr algn="l">
              <a:buNone/>
            </a:pPr>
            <a:r>
              <a:rPr sz="2200" b="1">
                <a:solidFill>
                  <a:srgbClr val="FFFFFF"/>
                </a:solidFill>
                <a:latin typeface="Calibri"/>
                <a:ea typeface="Calibri"/>
                <a:cs typeface="Calibri"/>
              </a:rPr>
              <a:t>Year 3</a:t>
            </a:r>
          </a:p>
        </p:txBody>
      </p:sp>
      <p:sp>
        <p:nvSpPr>
          <p:cNvPr id="25" name="TextBox 24">
            <a:extLst xmlns:a="http://schemas.openxmlformats.org/drawingml/2006/main">
              <a:ext uri="{FF2B5EF4-FFF2-40B4-BE49-F238E27FC236}">
                <a16:creationId xmlns:a16="http://schemas.microsoft.com/office/drawing/2014/main" id="{35C6E70B-8C3C-4319-B445-9D1EAABADD17}"/>
              </a:ext>
            </a:extLst>
          </p:cNvPr>
          <p:cNvSpPr>
            <a:spLocks xmlns:a="http://schemas.openxmlformats.org/drawingml/2006/main" noGrp="1"/>
          </p:cNvSpPr>
          <p:nvPr/>
        </p:nvSpPr>
        <p:spPr>
          <a:xfrm xmlns:a="http://schemas.openxmlformats.org/drawingml/2006/main">
            <a:off x="8366759" y="1737360"/>
            <a:ext cx="3337560" cy="32004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p xmlns:a="http://schemas.openxmlformats.org/drawingml/2006/main">
            <a:pPr algn="l">
              <a:buNone/>
            </a:pPr>
            <a:r>
              <a:rPr sz="1200" b="0">
                <a:solidFill>
                  <a:srgbClr val="CCCCCC"/>
                </a:solidFill>
                <a:latin typeface="Calibri"/>
                <a:ea typeface="Calibri"/>
                <a:cs typeface="Calibri"/>
              </a:rPr>
              <a:t>Interpret &amp; release</a:t>
            </a:r>
          </a:p>
        </p:txBody>
      </p:sp>
      <p:sp>
        <p:nvSpPr>
          <p:cNvPr id="26" name="TextBox 25">
            <a:extLst xmlns:a="http://schemas.openxmlformats.org/drawingml/2006/main">
              <a:ext uri="{FF2B5EF4-FFF2-40B4-BE49-F238E27FC236}">
                <a16:creationId xmlns:a16="http://schemas.microsoft.com/office/drawing/2014/main" id="{1BECBAD5-E5D2-48A0-B3E8-20EA7F1755F2}"/>
              </a:ext>
            </a:extLst>
          </p:cNvPr>
          <p:cNvSpPr>
            <a:spLocks xmlns:a="http://schemas.openxmlformats.org/drawingml/2006/main" noGrp="1"/>
          </p:cNvSpPr>
          <p:nvPr/>
        </p:nvSpPr>
        <p:spPr>
          <a:xfrm xmlns:a="http://schemas.openxmlformats.org/drawingml/2006/main">
            <a:off x="8412479" y="2377440"/>
            <a:ext cx="3246120" cy="23774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Bef>
                <a:spcPts val="200"/>
              </a:spcBef>
              <a:spcAft>
                <a:spcPts val="1000"/>
              </a:spcAft>
              <a:buNone/>
            </a:pPr>
            <a:r>
              <a:rPr sz="1400" b="0">
                <a:solidFill>
                  <a:srgbClr val="1A1A1A"/>
                </a:solidFill>
                <a:latin typeface="Calibri"/>
                <a:ea typeface="Calibri"/>
                <a:cs typeface="Calibri"/>
              </a:rPr>
              <a:t>•  Attribution and trajectories</a:t>
            </a:r>
          </a:p>
          <a:p xmlns:a="http://schemas.openxmlformats.org/drawingml/2006/main">
            <a:pPr algn="l">
              <a:spcBef>
                <a:spcPts val="200"/>
              </a:spcBef>
              <a:spcAft>
                <a:spcPts val="1000"/>
              </a:spcAft>
              <a:buNone/>
            </a:pPr>
            <a:r>
              <a:rPr sz="1400" b="0">
                <a:solidFill>
                  <a:srgbClr val="1A1A1A"/>
                </a:solidFill>
                <a:latin typeface="Calibri"/>
                <a:ea typeface="Calibri"/>
                <a:cs typeface="Calibri"/>
              </a:rPr>
              <a:t>•  Cross-disease taxonomy</a:t>
            </a:r>
          </a:p>
          <a:p xmlns:a="http://schemas.openxmlformats.org/drawingml/2006/main">
            <a:pPr algn="l">
              <a:spcBef>
                <a:spcPts val="200"/>
              </a:spcBef>
              <a:spcAft>
                <a:spcPts val="1000"/>
              </a:spcAft>
              <a:buNone/>
            </a:pPr>
            <a:r>
              <a:rPr sz="1400" b="0">
                <a:solidFill>
                  <a:srgbClr val="1A1A1A"/>
                </a:solidFill>
                <a:latin typeface="Calibri"/>
                <a:ea typeface="Calibri"/>
                <a:cs typeface="Calibri"/>
              </a:rPr>
              <a:t>•  Dissertation completion</a:t>
            </a:r>
          </a:p>
          <a:p xmlns:a="http://schemas.openxmlformats.org/drawingml/2006/main">
            <a:pPr algn="l">
              <a:spcBef>
                <a:spcPts val="200"/>
              </a:spcBef>
              <a:spcAft>
                <a:spcPts val="1000"/>
              </a:spcAft>
              <a:buNone/>
            </a:pPr>
            <a:r>
              <a:rPr sz="1400" b="0">
                <a:solidFill>
                  <a:srgbClr val="1A1A1A"/>
                </a:solidFill>
                <a:latin typeface="Calibri"/>
                <a:ea typeface="Calibri"/>
                <a:cs typeface="Calibri"/>
              </a:rPr>
              <a:t>•  Open-source release</a:t>
            </a:r>
          </a:p>
        </p:txBody>
      </p:sp>
      <p:sp>
        <p:nvSpPr>
          <p:cNvPr id="27" name="TextBox 26">
            <a:extLst xmlns:a="http://schemas.openxmlformats.org/drawingml/2006/main">
              <a:ext uri="{FF2B5EF4-FFF2-40B4-BE49-F238E27FC236}">
                <a16:creationId xmlns:a16="http://schemas.microsoft.com/office/drawing/2014/main" id="{AB9C52A6-3C87-4518-9785-C67D079D87B6}"/>
              </a:ext>
            </a:extLst>
          </p:cNvPr>
          <p:cNvSpPr>
            <a:spLocks xmlns:a="http://schemas.openxmlformats.org/drawingml/2006/main" noGrp="1"/>
          </p:cNvSpPr>
          <p:nvPr/>
        </p:nvSpPr>
        <p:spPr>
          <a:xfrm xmlns:a="http://schemas.openxmlformats.org/drawingml/2006/main">
            <a:off x="8366759" y="5074920"/>
            <a:ext cx="3337560" cy="41148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p xmlns:a="http://schemas.openxmlformats.org/drawingml/2006/main">
            <a:pPr algn="l">
              <a:buNone/>
            </a:pPr>
            <a:r>
              <a:rPr sz="1100" b="1">
                <a:solidFill>
                  <a:srgbClr val="003366"/>
                </a:solidFill>
                <a:latin typeface="Calibri"/>
                <a:ea typeface="Calibri"/>
                <a:cs typeface="Calibri"/>
              </a:rPr>
              <a:t>Scale beyond BRCA only if the gate passes</a:t>
            </a:r>
          </a:p>
        </p:txBody>
      </p:sp>
    </p:spTree>
    <p:extLst>
      <p:ext uri="{BB962C8B-B14F-4D97-AF65-F5344CB8AC3E}">
        <p14:creationId xmlns:p14="http://schemas.microsoft.com/office/powerpoint/2010/main" val="734839270"/>
      </p:ext>
    </p:extLst>
  </p:cSld>
</p:sld>
</file>

<file path=ppt/slides/slide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3AC23EEA-654A-4698-9B4D-63A53257E0E3}"/>
              </a:ext>
            </a:extLst>
          </p:cNvPr>
          <p:cNvSpPr>
            <a:spLocks xmlns:a="http://schemas.openxmlformats.org/drawingml/2006/main" noGrp="1"/>
          </p:cNvSpPr>
          <p:nvPr/>
        </p:nvSpPr>
        <p:spPr>
          <a:xfrm xmlns:a="http://schemas.openxmlformats.org/drawingml/2006/main">
            <a:off x="0" y="0"/>
            <a:ext cx="12191695" cy="868680"/>
          </a:xfrm>
          <a:prstGeom xmlns:a="http://schemas.openxmlformats.org/drawingml/2006/main" prst="rect">
            <a:avLst/>
          </a:prstGeom>
          <a:solidFill xmlns:a="http://schemas.openxmlformats.org/drawingml/2006/main">
            <a:srgbClr val="00336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584B88F3-B422-4B65-BD5B-BECC636667C2}"/>
              </a:ext>
            </a:extLst>
          </p:cNvPr>
          <p:cNvSpPr>
            <a:spLocks xmlns:a="http://schemas.openxmlformats.org/drawingml/2006/main" noGrp="1"/>
          </p:cNvSpPr>
          <p:nvPr/>
        </p:nvSpPr>
        <p:spPr>
          <a:xfrm xmlns:a="http://schemas.openxmlformats.org/drawingml/2006/main">
            <a:off x="0" y="868680"/>
            <a:ext cx="12191695" cy="73152"/>
          </a:xfrm>
          <a:prstGeom xmlns:a="http://schemas.openxmlformats.org/drawingml/2006/main" prst="rect">
            <a:avLst/>
          </a:prstGeom>
          <a:solidFill xmlns:a="http://schemas.openxmlformats.org/drawingml/2006/main">
            <a:srgbClr val="CC00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Rectangle 3">
            <a:extLst xmlns:a="http://schemas.openxmlformats.org/drawingml/2006/main">
              <a:ext uri="{FF2B5EF4-FFF2-40B4-BE49-F238E27FC236}">
                <a16:creationId xmlns:a16="http://schemas.microsoft.com/office/drawing/2014/main" id="{92498159-E720-4C4C-AC59-F89FD80D5455}"/>
              </a:ext>
            </a:extLst>
          </p:cNvPr>
          <p:cNvSpPr>
            <a:spLocks xmlns:a="http://schemas.openxmlformats.org/drawingml/2006/main" noGrp="1"/>
          </p:cNvSpPr>
          <p:nvPr/>
        </p:nvSpPr>
        <p:spPr>
          <a:xfrm xmlns:a="http://schemas.openxmlformats.org/drawingml/2006/main">
            <a:off x="0" y="941832"/>
            <a:ext cx="109728" cy="5916168"/>
          </a:xfrm>
          <a:prstGeom xmlns:a="http://schemas.openxmlformats.org/drawingml/2006/main" prst="rect">
            <a:avLst/>
          </a:prstGeom>
          <a:solidFill xmlns:a="http://schemas.openxmlformats.org/drawingml/2006/main">
            <a:srgbClr val="CC00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Rectangle 4">
            <a:extLst xmlns:a="http://schemas.openxmlformats.org/drawingml/2006/main">
              <a:ext uri="{FF2B5EF4-FFF2-40B4-BE49-F238E27FC236}">
                <a16:creationId xmlns:a16="http://schemas.microsoft.com/office/drawing/2014/main" id="{EC3630DC-D9D6-4C8D-ABFB-9CDD9D9D7FB9}"/>
              </a:ext>
            </a:extLst>
          </p:cNvPr>
          <p:cNvSpPr>
            <a:spLocks xmlns:a="http://schemas.openxmlformats.org/drawingml/2006/main" noGrp="1"/>
          </p:cNvSpPr>
          <p:nvPr/>
        </p:nvSpPr>
        <p:spPr>
          <a:xfrm xmlns:a="http://schemas.openxmlformats.org/drawingml/2006/main">
            <a:off x="0" y="6473952"/>
            <a:ext cx="12191695" cy="384048"/>
          </a:xfrm>
          <a:prstGeom xmlns:a="http://schemas.openxmlformats.org/drawingml/2006/main" prst="rect">
            <a:avLst/>
          </a:prstGeom>
          <a:solidFill xmlns:a="http://schemas.openxmlformats.org/drawingml/2006/main">
            <a:srgbClr val="00336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FAA86D04-D045-4B16-AE5D-CA5D2BD9645A}"/>
              </a:ext>
            </a:extLst>
          </p:cNvPr>
          <p:cNvSpPr>
            <a:spLocks xmlns:a="http://schemas.openxmlformats.org/drawingml/2006/main" noGrp="1"/>
          </p:cNvSpPr>
          <p:nvPr/>
        </p:nvSpPr>
        <p:spPr>
          <a:xfrm xmlns:a="http://schemas.openxmlformats.org/drawingml/2006/main">
            <a:off x="320040" y="164592"/>
            <a:ext cx="11430000" cy="50292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p xmlns:a="http://schemas.openxmlformats.org/drawingml/2006/main">
            <a:pPr algn="l">
              <a:buNone/>
            </a:pPr>
            <a:r>
              <a:rPr sz="2600" b="1">
                <a:solidFill>
                  <a:srgbClr val="FFFFFF"/>
                </a:solidFill>
                <a:latin typeface="Calibri"/>
                <a:ea typeface="Calibri"/>
                <a:cs typeface="Calibri"/>
              </a:rPr>
              <a:t>Project Files &amp; Live Tracking</a:t>
            </a:r>
          </a:p>
        </p:txBody>
      </p:sp>
      <p:sp>
        <p:nvSpPr>
          <p:cNvPr id="7" name="TextBox 6">
            <a:extLst xmlns:a="http://schemas.openxmlformats.org/drawingml/2006/main">
              <a:ext uri="{FF2B5EF4-FFF2-40B4-BE49-F238E27FC236}">
                <a16:creationId xmlns:a16="http://schemas.microsoft.com/office/drawing/2014/main" id="{8B755C9D-4651-40FC-8EC7-B569606378CD}"/>
              </a:ext>
            </a:extLst>
          </p:cNvPr>
          <p:cNvSpPr>
            <a:spLocks xmlns:a="http://schemas.openxmlformats.org/drawingml/2006/main" noGrp="1"/>
          </p:cNvSpPr>
          <p:nvPr/>
        </p:nvSpPr>
        <p:spPr>
          <a:xfrm xmlns:a="http://schemas.openxmlformats.org/drawingml/2006/main">
            <a:off x="320040" y="6510528"/>
            <a:ext cx="7772400" cy="292608"/>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p xmlns:a="http://schemas.openxmlformats.org/drawingml/2006/main">
            <a:pPr algn="l">
              <a:buNone/>
            </a:pPr>
            <a:r>
              <a:rPr sz="1000" b="0">
                <a:solidFill>
                  <a:srgbClr val="FFFFFF"/>
                </a:solidFill>
                <a:latin typeface="Calibri"/>
                <a:ea typeface="Calibri"/>
                <a:cs typeface="Calibri"/>
              </a:rPr>
              <a:t>Adam Cankaya  ·  Florida Atlantic University  ·  College of Engineering and Computer Science</a:t>
            </a:r>
          </a:p>
        </p:txBody>
      </p:sp>
      <p:sp>
        <p:nvSpPr>
          <p:cNvPr id="8" name="TextBox 7">
            <a:extLst xmlns:a="http://schemas.openxmlformats.org/drawingml/2006/main">
              <a:ext uri="{FF2B5EF4-FFF2-40B4-BE49-F238E27FC236}">
                <a16:creationId xmlns:a16="http://schemas.microsoft.com/office/drawing/2014/main" id="{C7AC3109-28A3-4B2F-A4ED-211720BFAA54}"/>
              </a:ext>
            </a:extLst>
          </p:cNvPr>
          <p:cNvSpPr>
            <a:spLocks xmlns:a="http://schemas.openxmlformats.org/drawingml/2006/main" noGrp="1"/>
          </p:cNvSpPr>
          <p:nvPr/>
        </p:nvSpPr>
        <p:spPr>
          <a:xfrm xmlns:a="http://schemas.openxmlformats.org/drawingml/2006/main">
            <a:off x="8412480" y="6510528"/>
            <a:ext cx="3474720" cy="292608"/>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p xmlns:a="http://schemas.openxmlformats.org/drawingml/2006/main">
            <a:pPr algn="r">
              <a:buNone/>
            </a:pPr>
            <a:r>
              <a:rPr sz="1000" b="0">
                <a:solidFill>
                  <a:srgbClr val="CCCCCC"/>
                </a:solidFill>
                <a:latin typeface="Calibri"/>
                <a:ea typeface="Calibri"/>
                <a:cs typeface="Calibri"/>
              </a:rPr>
              <a:t>acankaya2017@fau.edu</a:t>
            </a:r>
          </a:p>
        </p:txBody>
      </p:sp>
      <p:sp>
        <p:nvSpPr>
          <p:cNvPr id="9" name="Rounded Rectangle 8">
            <a:extLst xmlns:a="http://schemas.openxmlformats.org/drawingml/2006/main">
              <a:ext uri="{FF2B5EF4-FFF2-40B4-BE49-F238E27FC236}">
                <a16:creationId xmlns:a16="http://schemas.microsoft.com/office/drawing/2014/main" id="{72F6BA0B-9B82-45AC-889A-A3D991BE26EC}"/>
              </a:ext>
            </a:extLst>
          </p:cNvPr>
          <p:cNvSpPr>
            <a:spLocks xmlns:a="http://schemas.openxmlformats.org/drawingml/2006/main" noGrp="1"/>
          </p:cNvSpPr>
          <p:nvPr/>
        </p:nvSpPr>
        <p:spPr>
          <a:xfrm xmlns:a="http://schemas.openxmlformats.org/drawingml/2006/main">
            <a:off x="457200" y="1234440"/>
            <a:ext cx="5486400" cy="429768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12700">
            <a:solidFill>
              <a:srgbClr val="CCCCC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Rectangle 9">
            <a:extLst xmlns:a="http://schemas.openxmlformats.org/drawingml/2006/main">
              <a:ext uri="{FF2B5EF4-FFF2-40B4-BE49-F238E27FC236}">
                <a16:creationId xmlns:a16="http://schemas.microsoft.com/office/drawing/2014/main" id="{DD20B273-12A7-44CD-BBCC-2FA5B986D00A}"/>
              </a:ext>
            </a:extLst>
          </p:cNvPr>
          <p:cNvSpPr>
            <a:spLocks xmlns:a="http://schemas.openxmlformats.org/drawingml/2006/main" noGrp="1"/>
          </p:cNvSpPr>
          <p:nvPr/>
        </p:nvSpPr>
        <p:spPr>
          <a:xfrm xmlns:a="http://schemas.openxmlformats.org/drawingml/2006/main">
            <a:off x="457200" y="1234440"/>
            <a:ext cx="5486400" cy="548640"/>
          </a:xfrm>
          <a:prstGeom xmlns:a="http://schemas.openxmlformats.org/drawingml/2006/main" prst="rect">
            <a:avLst/>
          </a:prstGeom>
          <a:solidFill xmlns:a="http://schemas.openxmlformats.org/drawingml/2006/main">
            <a:srgbClr val="00336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D1CBA7B7-E424-40B4-B175-2FD0E106206C}"/>
              </a:ext>
            </a:extLst>
          </p:cNvPr>
          <p:cNvSpPr>
            <a:spLocks xmlns:a="http://schemas.openxmlformats.org/drawingml/2006/main" noGrp="1"/>
          </p:cNvSpPr>
          <p:nvPr/>
        </p:nvSpPr>
        <p:spPr>
          <a:xfrm xmlns:a="http://schemas.openxmlformats.org/drawingml/2006/main">
            <a:off x="640080" y="1325880"/>
            <a:ext cx="5120640" cy="36576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p xmlns:a="http://schemas.openxmlformats.org/drawingml/2006/main">
            <a:pPr algn="l">
              <a:buNone/>
            </a:pPr>
            <a:r>
              <a:rPr sz="1800" b="1">
                <a:solidFill>
                  <a:srgbClr val="FFFFFF"/>
                </a:solidFill>
                <a:latin typeface="Calibri"/>
                <a:ea typeface="Calibri"/>
                <a:cs typeface="Calibri"/>
              </a:rPr>
              <a:t>Project resources</a:t>
            </a:r>
          </a:p>
        </p:txBody>
      </p:sp>
      <p:sp>
        <p:nvSpPr>
          <p:cNvPr id="12" name="TextBox 11">
            <a:extLst xmlns:a="http://schemas.openxmlformats.org/drawingml/2006/main">
              <a:ext uri="{FF2B5EF4-FFF2-40B4-BE49-F238E27FC236}">
                <a16:creationId xmlns:a16="http://schemas.microsoft.com/office/drawing/2014/main" id="{AFBAB3D4-E35D-4490-A607-B61018166CE6}"/>
              </a:ext>
            </a:extLst>
          </p:cNvPr>
          <p:cNvSpPr>
            <a:spLocks xmlns:a="http://schemas.openxmlformats.org/drawingml/2006/main" noGrp="1"/>
          </p:cNvSpPr>
          <p:nvPr/>
        </p:nvSpPr>
        <p:spPr>
          <a:xfrm xmlns:a="http://schemas.openxmlformats.org/drawingml/2006/main">
            <a:off x="685800" y="2011680"/>
            <a:ext cx="5029200" cy="32004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Bef>
                <a:spcPts val="200"/>
              </a:spcBef>
              <a:spcAft>
                <a:spcPts val="1000"/>
              </a:spcAft>
              <a:buNone/>
            </a:pPr>
            <a:r>
              <a:rPr sz="1500" b="0">
                <a:solidFill>
                  <a:srgbClr val="1A1A1A"/>
                </a:solidFill>
                <a:latin typeface="Calibri"/>
                <a:ea typeface="Calibri"/>
                <a:cs typeface="Calibri"/>
                <a:hlinkClick xmlns:r="http://schemas.openxmlformats.org/officeDocument/2006/relationships" r:id="R568dbd75273a4015"/>
              </a:rPr>
              <a:t>Live dashboard</a:t>
            </a:r>
          </a:p>
          <a:p xmlns:a="http://schemas.openxmlformats.org/drawingml/2006/main">
            <a:pPr algn="l">
              <a:spcBef>
                <a:spcPts val="200"/>
              </a:spcBef>
              <a:spcAft>
                <a:spcPts val="1000"/>
              </a:spcAft>
              <a:buNone/>
            </a:pPr>
            <a:r>
              <a:rPr sz="1500" b="0">
                <a:solidFill>
                  <a:srgbClr val="1A1A1A"/>
                </a:solidFill>
                <a:latin typeface="Calibri"/>
                <a:ea typeface="Calibri"/>
                <a:cs typeface="Calibri"/>
                <a:hlinkClick xmlns:r="http://schemas.openxmlformats.org/officeDocument/2006/relationships" r:id="R7cb50e9883ba465d"/>
              </a:rPr>
              <a:t>Code repository</a:t>
            </a:r>
          </a:p>
          <a:p xmlns:a="http://schemas.openxmlformats.org/drawingml/2006/main">
            <a:pPr algn="l">
              <a:spcBef>
                <a:spcPts val="200"/>
              </a:spcBef>
              <a:spcAft>
                <a:spcPts val="1000"/>
              </a:spcAft>
              <a:buNone/>
            </a:pPr>
            <a:r>
              <a:rPr sz="1500" b="0">
                <a:solidFill>
                  <a:srgbClr val="1A1A1A"/>
                </a:solidFill>
                <a:latin typeface="Calibri"/>
                <a:ea typeface="Calibri"/>
                <a:cs typeface="Calibri"/>
                <a:hlinkClick xmlns:r="http://schemas.openxmlformats.org/officeDocument/2006/relationships" r:id="R0df861fed7ff4f3a"/>
              </a:rPr>
              <a:t>Project wiki</a:t>
            </a:r>
          </a:p>
        </p:txBody>
      </p:sp>
      <p:sp>
        <p:nvSpPr>
          <p:cNvPr id="13" name="Rounded Rectangle 12">
            <a:extLst xmlns:a="http://schemas.openxmlformats.org/drawingml/2006/main">
              <a:ext uri="{FF2B5EF4-FFF2-40B4-BE49-F238E27FC236}">
                <a16:creationId xmlns:a16="http://schemas.microsoft.com/office/drawing/2014/main" id="{23633724-CBBC-44E0-B3C0-1AB27CC06181}"/>
              </a:ext>
            </a:extLst>
          </p:cNvPr>
          <p:cNvSpPr>
            <a:spLocks xmlns:a="http://schemas.openxmlformats.org/drawingml/2006/main" noGrp="1"/>
          </p:cNvSpPr>
          <p:nvPr/>
        </p:nvSpPr>
        <p:spPr>
          <a:xfrm xmlns:a="http://schemas.openxmlformats.org/drawingml/2006/main">
            <a:off x="6263640" y="1234440"/>
            <a:ext cx="5486400" cy="429768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12700">
            <a:solidFill>
              <a:srgbClr val="CCCCC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Rectangle 13">
            <a:extLst xmlns:a="http://schemas.openxmlformats.org/drawingml/2006/main">
              <a:ext uri="{FF2B5EF4-FFF2-40B4-BE49-F238E27FC236}">
                <a16:creationId xmlns:a16="http://schemas.microsoft.com/office/drawing/2014/main" id="{AADE8CE3-BA8B-44C8-AC58-7EA88353BC28}"/>
              </a:ext>
            </a:extLst>
          </p:cNvPr>
          <p:cNvSpPr>
            <a:spLocks xmlns:a="http://schemas.openxmlformats.org/drawingml/2006/main" noGrp="1"/>
          </p:cNvSpPr>
          <p:nvPr/>
        </p:nvSpPr>
        <p:spPr>
          <a:xfrm xmlns:a="http://schemas.openxmlformats.org/drawingml/2006/main">
            <a:off x="6263640" y="1234440"/>
            <a:ext cx="5486400" cy="548640"/>
          </a:xfrm>
          <a:prstGeom xmlns:a="http://schemas.openxmlformats.org/drawingml/2006/main" prst="rect">
            <a:avLst/>
          </a:prstGeom>
          <a:solidFill xmlns:a="http://schemas.openxmlformats.org/drawingml/2006/main">
            <a:srgbClr val="CC00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9251A8E0-6775-4399-A4B8-2174B4772E3D}"/>
              </a:ext>
            </a:extLst>
          </p:cNvPr>
          <p:cNvSpPr>
            <a:spLocks xmlns:a="http://schemas.openxmlformats.org/drawingml/2006/main" noGrp="1"/>
          </p:cNvSpPr>
          <p:nvPr/>
        </p:nvSpPr>
        <p:spPr>
          <a:xfrm xmlns:a="http://schemas.openxmlformats.org/drawingml/2006/main">
            <a:off x="6446520" y="1325880"/>
            <a:ext cx="5120640" cy="36576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p xmlns:a="http://schemas.openxmlformats.org/drawingml/2006/main">
            <a:pPr algn="l">
              <a:buNone/>
            </a:pPr>
            <a:r>
              <a:rPr sz="1800" b="1">
                <a:solidFill>
                  <a:srgbClr val="FFFFFF"/>
                </a:solidFill>
                <a:latin typeface="Calibri"/>
                <a:ea typeface="Calibri"/>
                <a:cs typeface="Calibri"/>
              </a:rPr>
              <a:t>Roadmap and updates</a:t>
            </a:r>
          </a:p>
        </p:txBody>
      </p:sp>
      <p:sp>
        <p:nvSpPr>
          <p:cNvPr id="16" name="TextBox 15">
            <a:extLst xmlns:a="http://schemas.openxmlformats.org/drawingml/2006/main">
              <a:ext uri="{FF2B5EF4-FFF2-40B4-BE49-F238E27FC236}">
                <a16:creationId xmlns:a16="http://schemas.microsoft.com/office/drawing/2014/main" id="{6830E9FC-9B25-4BF6-95D6-7F35F930798F}"/>
              </a:ext>
            </a:extLst>
          </p:cNvPr>
          <p:cNvSpPr>
            <a:spLocks xmlns:a="http://schemas.openxmlformats.org/drawingml/2006/main" noGrp="1"/>
          </p:cNvSpPr>
          <p:nvPr/>
        </p:nvSpPr>
        <p:spPr>
          <a:xfrm xmlns:a="http://schemas.openxmlformats.org/drawingml/2006/main">
            <a:off x="6492240" y="2011680"/>
            <a:ext cx="5029200" cy="32004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spcBef>
                <a:spcPts val="200"/>
              </a:spcBef>
              <a:spcAft>
                <a:spcPts val="1000"/>
              </a:spcAft>
              <a:buNone/>
            </a:pPr>
            <a:r>
              <a:rPr sz="1500" b="0">
                <a:solidFill>
                  <a:srgbClr val="1A1A1A"/>
                </a:solidFill>
                <a:latin typeface="Calibri"/>
                <a:ea typeface="Calibri"/>
                <a:cs typeface="Calibri"/>
                <a:hlinkClick xmlns:r="http://schemas.openxmlformats.org/officeDocument/2006/relationships" r:id="Re035aa72e7594c17"/>
              </a:rPr>
              <a:t>Project Pages / blog</a:t>
            </a:r>
          </a:p>
          <a:p xmlns:a="http://schemas.openxmlformats.org/drawingml/2006/main">
            <a:pPr algn="l">
              <a:spcBef>
                <a:spcPts val="200"/>
              </a:spcBef>
              <a:spcAft>
                <a:spcPts val="1000"/>
              </a:spcAft>
              <a:buNone/>
            </a:pPr>
            <a:r>
              <a:rPr sz="1500" b="0">
                <a:solidFill>
                  <a:srgbClr val="1A1A1A"/>
                </a:solidFill>
                <a:latin typeface="Calibri"/>
                <a:ea typeface="Calibri"/>
                <a:cs typeface="Calibri"/>
                <a:hlinkClick xmlns:r="http://schemas.openxmlformats.org/officeDocument/2006/relationships" r:id="R3e6cbf995dc44e72"/>
              </a:rPr>
              <a:t>Timeline + issues</a:t>
            </a:r>
          </a:p>
        </p:txBody>
      </p:sp>
    </p:spTree>
    <p:extLst>
      <p:ext uri="{BB962C8B-B14F-4D97-AF65-F5344CB8AC3E}">
        <p14:creationId xmlns:p14="http://schemas.microsoft.com/office/powerpoint/2010/main" val="933254038"/>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2026-08-11T00:37:39.8200000Z</dcterms:created>
  <dcterms:modified xsi:type="dcterms:W3CDTF">2026-08-11T00:37:39.8200000Z</dcterms:modified>
</coreProperties>
</file>